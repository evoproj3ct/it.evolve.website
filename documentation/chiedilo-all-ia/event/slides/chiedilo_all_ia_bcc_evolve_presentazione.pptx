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 della parte formativa. Ringraziare BCC e gli interventi precedenti, poi anticipare che adesso si passa dal valore dell'innovazione alla pratica quotidiana.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ponte. Usare la frase: “Abbiamo parlato di innovazione, territorio e competenze. Ora entriamo nel pratico: come possiamo usare l'IA nel lavoro quotidiano?”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Fissare il mantra. Spiegare che la qualità della risposta dipende da come impostiamo contesto, obiettivo e vincoli.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Orientare il pubblico. Non promettere una lezione tecnica: promettere un metodo immediato, esempi e regole di prudenza.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 emergere il problema: molti hanno già provato ChatGPT o strumenti simili, ma una risposta non è automaticamente una risposta utile.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Aprire il primo blocco. Enfatizzare che l'IA non legge nella mente: per lavorare bene ha bisogno di direzione.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Spiegare con parole semplici: il prompt è la richiesta che inviamo, ma soprattutto è il modo in cui rendiamo chiaro cosa vogliamo ottenere.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relatore junior può leggere questa frase. Domanda al pubblico: “Secondo voi è sbagliata?” Risposta: non è sbagliata, è incompleta.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Mostrare la differenza senza entrare nei dettagli tecnici. La richiesta efficace non è “più lunga” per forza: è più chiara e orientata al risultato.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Ripetere la formula due volte. È lo schema che il pubblico deve portare a casa e applicare anche dopo l'evento.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Chiarire che l'IA non va usata in modo passivo. Iterare è parte del lavoro: la qualità nasce anche dalle richieste successive.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Condurre la demo controllata. Evitare demo live rischiose se i tempi sono stretti: mostrare output preparati o screenshot. Concludere con la frase chiave.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Sintesi del primo blocco e passaggio al secondo: il metodo ora viene applicato a casi concreti, non solo a esempi di testo.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Aprire il secondo blocco. Anticipare che adesso vedremo come il metodo produce risultati concreti, ma sempre da verificare.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junior può dire: “Io avrei scritto proprio così”. Il tecnico riprende: perfetto, partiamo da qui e vediamo cosa manca.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Fare una domanda al pubblico: cosa manca in questa richiesta? Guidare verso contesto, criteri, esclusioni, formato e verifica.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 leggere tutto il prompt come testo lungo. Leggere i blocchi: obiettivo, inclusioni, esclusioni, formato e verifica.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Importante: non parlare di sito governativo. Dire “fonti pubbliche online”. Anticipare che telefono, PEC, sito e referente devono essere verificati.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Mostrare l'Excel reale se disponibile. In questa versione è presente un mockup e un placeholder sostituibile manualmente. Concentrarsi sulle colonne che creano valore: priorità, score, motivazione, proposta, verifica.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Spiegare che score e priorità sono supporti alla decisione, non verità oggettive. Usare l'output come base per ragionare.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Enfatizzare l'effetto wow: non solo produzione di testo, ma trasformazione di un bisogno commerciale in una sequenza operativa.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Collegare naturalmente al tema rischi. Usare bene l'IA significa anche chiederle di aiutarci a individuare limiti e controlli necessari.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Questo caso parla a tutti: imprenditori, professionisti, collaboratori, persone non tecniche. Il primo valore è mettere ordine in ciò che abbiamo già.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Mostrare che il prompt può restituire tabella attività, priorità, responsabile, scadenza e rischi. È un uso immediatamente applicabile nel quotidiano.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Sezione breve e concreta. Non fare una lezione giuridica: dare regole di prudenza. Collegare privacy e fonti ai case-study appena mostrati.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Chiusura. Ripetere le 5 regole. Ringraziare. Eventuale invito a kit/materiali post-evento e Q&amp;A, se previsto dalla scaletta.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1"/>
          </a:solidFill>
          <a:ln w="12700">
            <a:solidFill>
              <a:srgbClr val="071A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251960"/>
            <a:ext cx="6309360" cy="2743200"/>
          </a:xfrm>
          <a:prstGeom prst="arc">
            <a:avLst/>
          </a:prstGeom>
          <a:noFill/>
          <a:ln w="406400">
            <a:solidFill>
              <a:srgbClr val="F7F1E6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0"/>
            <a:ext cx="5303520" cy="1828800"/>
          </a:xfrm>
          <a:prstGeom prst="arc">
            <a:avLst/>
          </a:prstGeom>
          <a:noFill/>
          <a:ln w="355600">
            <a:solidFill>
              <a:srgbClr val="218A84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023360"/>
            <a:ext cx="5303520" cy="2926080"/>
          </a:xfrm>
          <a:prstGeom prst="arc">
            <a:avLst/>
          </a:prstGeom>
          <a:noFill/>
          <a:ln w="38100">
            <a:solidFill>
              <a:srgbClr val="E4A83A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206240"/>
            <a:ext cx="4572000" cy="2377440"/>
          </a:xfrm>
          <a:prstGeom prst="arc">
            <a:avLst/>
          </a:prstGeom>
          <a:noFill/>
          <a:ln w="25400">
            <a:solidFill>
              <a:srgbClr val="E4A83A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38360" y="5440680"/>
            <a:ext cx="128016" cy="128016"/>
          </a:xfrm>
          <a:prstGeom prst="ellipse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4389120"/>
            <a:ext cx="91440" cy="91440"/>
          </a:xfrm>
          <a:prstGeom prst="ellipse">
            <a:avLst/>
          </a:prstGeom>
          <a:solidFill>
            <a:srgbClr val="218A84"/>
          </a:solidFill>
          <a:ln w="12700">
            <a:solidFill>
              <a:srgbClr val="218A84"/>
            </a:solidFill>
            <a:prstDash val="solid"/>
          </a:ln>
        </p:spPr>
      </p:sp>
      <p:pic>
        <p:nvPicPr>
          <p:cNvPr id="9" name="Image 0" descr="/mnt/data/logo-bcc-no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1508760" cy="676656"/>
          </a:xfrm>
          <a:prstGeom prst="rect">
            <a:avLst/>
          </a:prstGeom>
        </p:spPr>
      </p:pic>
      <p:pic>
        <p:nvPicPr>
          <p:cNvPr id="10" name="Image 1" descr="/mnt/data/logo_bi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51206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16768" y="30175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evolve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49808" y="950976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CHIEDILO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ALL'IA</a:t>
            </a:r>
            <a:endParaRPr lang="en-US" sz="4400" dirty="0"/>
          </a:p>
        </p:txBody>
      </p:sp>
      <p:sp>
        <p:nvSpPr>
          <p:cNvPr id="13" name="Text 9"/>
          <p:cNvSpPr/>
          <p:nvPr/>
        </p:nvSpPr>
        <p:spPr>
          <a:xfrm>
            <a:off x="786384" y="251460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i="1" dirty="0">
                <a:solidFill>
                  <a:srgbClr val="F7F1E6"/>
                </a:solidFill>
              </a:rPr>
              <a:t>Un incontro pratico per capire come dialogare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7F1E6"/>
                </a:solidFill>
              </a:rPr>
              <a:t>con l'IA in modo chiaro, utile e consapevole.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786384" y="3794760"/>
            <a:ext cx="5120640" cy="502920"/>
          </a:xfrm>
          <a:prstGeom prst="roundRect">
            <a:avLst>
              <a:gd name="adj" fmla="val 21818"/>
            </a:avLst>
          </a:prstGeom>
          <a:solidFill>
            <a:srgbClr val="218A84"/>
          </a:solidFill>
          <a:ln w="12700">
            <a:solidFill>
              <a:srgbClr val="218A84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05840" y="3968496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Domande migliori, risposte migliori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822960" y="4526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8D9"/>
                </a:solidFill>
              </a:rPr>
              <a:t>Parte formativa · 90 minuti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57200" y="651052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Chiedilo all'IA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9C8D9"/>
                </a:solidFill>
              </a:rPr>
              <a:t>01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457200" y="6382512"/>
            <a:ext cx="11155680" cy="0"/>
          </a:xfrm>
          <a:prstGeom prst="line">
            <a:avLst/>
          </a:prstGeom>
          <a:noFill/>
          <a:ln w="7620">
            <a:solidFill>
              <a:srgbClr val="244059">
                <a:alpha val="7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1"/>
          </a:solidFill>
          <a:ln w="12700">
            <a:solidFill>
              <a:srgbClr val="071A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251960"/>
            <a:ext cx="6309360" cy="2743200"/>
          </a:xfrm>
          <a:prstGeom prst="arc">
            <a:avLst/>
          </a:prstGeom>
          <a:noFill/>
          <a:ln w="406400">
            <a:solidFill>
              <a:srgbClr val="F7F1E6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0"/>
            <a:ext cx="5303520" cy="1828800"/>
          </a:xfrm>
          <a:prstGeom prst="arc">
            <a:avLst/>
          </a:prstGeom>
          <a:noFill/>
          <a:ln w="355600">
            <a:solidFill>
              <a:srgbClr val="218A84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023360"/>
            <a:ext cx="5303520" cy="2926080"/>
          </a:xfrm>
          <a:prstGeom prst="arc">
            <a:avLst/>
          </a:prstGeom>
          <a:noFill/>
          <a:ln w="38100">
            <a:solidFill>
              <a:srgbClr val="E4A83A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206240"/>
            <a:ext cx="4572000" cy="2377440"/>
          </a:xfrm>
          <a:prstGeom prst="arc">
            <a:avLst/>
          </a:prstGeom>
          <a:noFill/>
          <a:ln w="25400">
            <a:solidFill>
              <a:srgbClr val="E4A83A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38360" y="5440680"/>
            <a:ext cx="128016" cy="128016"/>
          </a:xfrm>
          <a:prstGeom prst="ellipse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4389120"/>
            <a:ext cx="91440" cy="91440"/>
          </a:xfrm>
          <a:prstGeom prst="ellipse">
            <a:avLst/>
          </a:prstGeom>
          <a:solidFill>
            <a:srgbClr val="218A84"/>
          </a:solidFill>
          <a:ln w="12700">
            <a:solidFill>
              <a:srgbClr val="218A84"/>
            </a:solidFill>
            <a:prstDash val="solid"/>
          </a:ln>
        </p:spPr>
      </p:sp>
      <p:pic>
        <p:nvPicPr>
          <p:cNvPr id="9" name="Image 0" descr="/mnt/data/logo-bcc-no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1508760" cy="676656"/>
          </a:xfrm>
          <a:prstGeom prst="rect">
            <a:avLst/>
          </a:prstGeom>
        </p:spPr>
      </p:pic>
      <p:pic>
        <p:nvPicPr>
          <p:cNvPr id="10" name="Image 1" descr="/mnt/data/logo_bi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51206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16768" y="30175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evolve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85800" y="10241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Dal territorio alla pratica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713232" y="164592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9C8D9"/>
                </a:solidFill>
              </a:rPr>
              <a:t>Dopo l'inquadramento istituzionale, entriamo nell'uso concreto dell'IA.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13232" y="2121408"/>
            <a:ext cx="713232" cy="50292"/>
          </a:xfrm>
          <a:prstGeom prst="rect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2743200"/>
            <a:ext cx="32918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E6ECF2">
                <a:alpha val="9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78408" y="2907792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1. Innovazione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978408" y="3246120"/>
            <a:ext cx="288950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B6E"/>
                </a:solidFill>
              </a:rPr>
              <a:t>Non come slogan, ma come competenza da usare nel lavoro.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434840" y="2743200"/>
            <a:ext cx="32918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E6ECF2">
                <a:alpha val="9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636008" y="2907792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2. Territorio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636008" y="3246120"/>
            <a:ext cx="288950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B6E"/>
                </a:solidFill>
              </a:rPr>
              <a:t>Imprese, professionisti e clienti locali davanti a strumenti nuovi.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092440" y="2743200"/>
            <a:ext cx="32918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E6ECF2">
                <a:alpha val="90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293608" y="2907792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3. Metodo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8293608" y="3246120"/>
            <a:ext cx="288950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B6E"/>
                </a:solidFill>
              </a:rPr>
              <a:t>Non basta provare l'IA: bisogna imparare a guidarla.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1371600" y="4709160"/>
            <a:ext cx="9418320" cy="640080"/>
          </a:xfrm>
          <a:prstGeom prst="roundRect">
            <a:avLst>
              <a:gd name="adj" fmla="val 17143"/>
            </a:avLst>
          </a:prstGeom>
          <a:solidFill>
            <a:srgbClr val="E4A83A"/>
          </a:solidFill>
          <a:ln w="12700">
            <a:solidFill>
              <a:srgbClr val="E4A83A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591056" y="4882896"/>
            <a:ext cx="8979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33"/>
                </a:solidFill>
              </a:rPr>
              <a:t>Oggi non partiamo dagli strumenti. Partiamo dal modo in cui facciamo le domande.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457200" y="651052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Chiedilo all'IA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9C8D9"/>
                </a:solidFill>
              </a:rPr>
              <a:t>02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457200" y="6382512"/>
            <a:ext cx="11155680" cy="0"/>
          </a:xfrm>
          <a:prstGeom prst="line">
            <a:avLst/>
          </a:prstGeom>
          <a:noFill/>
          <a:ln w="7620">
            <a:solidFill>
              <a:srgbClr val="244059">
                <a:alpha val="7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1"/>
          </a:solidFill>
          <a:ln w="12700">
            <a:solidFill>
              <a:srgbClr val="071A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251960"/>
            <a:ext cx="6309360" cy="2743200"/>
          </a:xfrm>
          <a:prstGeom prst="arc">
            <a:avLst/>
          </a:prstGeom>
          <a:noFill/>
          <a:ln w="406400">
            <a:solidFill>
              <a:srgbClr val="F7F1E6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0"/>
            <a:ext cx="5303520" cy="1828800"/>
          </a:xfrm>
          <a:prstGeom prst="arc">
            <a:avLst/>
          </a:prstGeom>
          <a:noFill/>
          <a:ln w="355600">
            <a:solidFill>
              <a:srgbClr val="218A84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023360"/>
            <a:ext cx="5303520" cy="2926080"/>
          </a:xfrm>
          <a:prstGeom prst="arc">
            <a:avLst/>
          </a:prstGeom>
          <a:noFill/>
          <a:ln w="38100">
            <a:solidFill>
              <a:srgbClr val="E4A83A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206240"/>
            <a:ext cx="4572000" cy="2377440"/>
          </a:xfrm>
          <a:prstGeom prst="arc">
            <a:avLst/>
          </a:prstGeom>
          <a:noFill/>
          <a:ln w="25400">
            <a:solidFill>
              <a:srgbClr val="E4A83A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38360" y="5440680"/>
            <a:ext cx="128016" cy="128016"/>
          </a:xfrm>
          <a:prstGeom prst="ellipse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4389120"/>
            <a:ext cx="91440" cy="91440"/>
          </a:xfrm>
          <a:prstGeom prst="ellipse">
            <a:avLst/>
          </a:prstGeom>
          <a:solidFill>
            <a:srgbClr val="218A84"/>
          </a:solidFill>
          <a:ln w="12700">
            <a:solidFill>
              <a:srgbClr val="218A84"/>
            </a:solidFill>
            <a:prstDash val="solid"/>
          </a:ln>
        </p:spPr>
      </p:sp>
      <p:pic>
        <p:nvPicPr>
          <p:cNvPr id="9" name="Image 0" descr="/mnt/data/logo-bcc-no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1508760" cy="676656"/>
          </a:xfrm>
          <a:prstGeom prst="rect">
            <a:avLst/>
          </a:prstGeom>
        </p:spPr>
      </p:pic>
      <p:pic>
        <p:nvPicPr>
          <p:cNvPr id="10" name="Image 1" descr="/mnt/data/logo_bi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51206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16768" y="30175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evolve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097280" y="1965960"/>
            <a:ext cx="10012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Domande migliori,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risposte migliori.</a:t>
            </a:r>
            <a:endParaRPr lang="en-US" sz="4800" dirty="0"/>
          </a:p>
        </p:txBody>
      </p:sp>
      <p:sp>
        <p:nvSpPr>
          <p:cNvPr id="13" name="Text 9"/>
          <p:cNvSpPr/>
          <p:nvPr/>
        </p:nvSpPr>
        <p:spPr>
          <a:xfrm>
            <a:off x="1828800" y="3246120"/>
            <a:ext cx="8549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9C8D9"/>
                </a:solidFill>
              </a:rPr>
              <a:t>Il messaggio guida dell'intero percorso.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5376672" y="3931920"/>
            <a:ext cx="1417320" cy="54864"/>
          </a:xfrm>
          <a:prstGeom prst="rect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651052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Chiedilo all'IA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9C8D9"/>
                </a:solidFill>
              </a:rPr>
              <a:t>03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457200" y="6382512"/>
            <a:ext cx="11155680" cy="0"/>
          </a:xfrm>
          <a:prstGeom prst="line">
            <a:avLst/>
          </a:prstGeom>
          <a:noFill/>
          <a:ln w="7620">
            <a:solidFill>
              <a:srgbClr val="244059">
                <a:alpha val="7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1"/>
          </a:solidFill>
          <a:ln w="12700">
            <a:solidFill>
              <a:srgbClr val="071A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251960"/>
            <a:ext cx="6309360" cy="2743200"/>
          </a:xfrm>
          <a:prstGeom prst="arc">
            <a:avLst/>
          </a:prstGeom>
          <a:noFill/>
          <a:ln w="406400">
            <a:solidFill>
              <a:srgbClr val="F7F1E6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0"/>
            <a:ext cx="5303520" cy="1828800"/>
          </a:xfrm>
          <a:prstGeom prst="arc">
            <a:avLst/>
          </a:prstGeom>
          <a:noFill/>
          <a:ln w="355600">
            <a:solidFill>
              <a:srgbClr val="218A84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023360"/>
            <a:ext cx="5303520" cy="2926080"/>
          </a:xfrm>
          <a:prstGeom prst="arc">
            <a:avLst/>
          </a:prstGeom>
          <a:noFill/>
          <a:ln w="38100">
            <a:solidFill>
              <a:srgbClr val="E4A83A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206240"/>
            <a:ext cx="4572000" cy="2377440"/>
          </a:xfrm>
          <a:prstGeom prst="arc">
            <a:avLst/>
          </a:prstGeom>
          <a:noFill/>
          <a:ln w="25400">
            <a:solidFill>
              <a:srgbClr val="E4A83A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38360" y="5440680"/>
            <a:ext cx="128016" cy="128016"/>
          </a:xfrm>
          <a:prstGeom prst="ellipse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4389120"/>
            <a:ext cx="91440" cy="91440"/>
          </a:xfrm>
          <a:prstGeom prst="ellipse">
            <a:avLst/>
          </a:prstGeom>
          <a:solidFill>
            <a:srgbClr val="218A84"/>
          </a:solidFill>
          <a:ln w="12700">
            <a:solidFill>
              <a:srgbClr val="218A84"/>
            </a:solidFill>
            <a:prstDash val="solid"/>
          </a:ln>
        </p:spPr>
      </p:sp>
      <p:pic>
        <p:nvPicPr>
          <p:cNvPr id="9" name="Image 0" descr="/mnt/data/logo-bcc-no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1508760" cy="676656"/>
          </a:xfrm>
          <a:prstGeom prst="rect">
            <a:avLst/>
          </a:prstGeom>
        </p:spPr>
      </p:pic>
      <p:pic>
        <p:nvPicPr>
          <p:cNvPr id="10" name="Image 1" descr="/mnt/data/logo_bi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51206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16768" y="30175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evolve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85800" y="10241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 prossimi 90 minuti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713232" y="164592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9C8D9"/>
                </a:solidFill>
              </a:rPr>
              <a:t>Un percorso pratico in due blocchi.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13232" y="2121408"/>
            <a:ext cx="713232" cy="50292"/>
          </a:xfrm>
          <a:prstGeom prst="rect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2606040"/>
            <a:ext cx="5120640" cy="1051560"/>
          </a:xfrm>
          <a:prstGeom prst="roundRect">
            <a:avLst>
              <a:gd name="adj" fmla="val 10435"/>
            </a:avLst>
          </a:prstGeom>
          <a:solidFill>
            <a:srgbClr val="218A84"/>
          </a:solidFill>
          <a:ln w="12700">
            <a:solidFill>
              <a:srgbClr val="218A84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42416" y="2779776"/>
            <a:ext cx="4681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BLOCCO 1 · 45'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Non basta chiedere: bisogna guidare</a:t>
            </a:r>
            <a:endParaRPr lang="en-US" sz="1900" dirty="0"/>
          </a:p>
        </p:txBody>
      </p:sp>
      <p:sp>
        <p:nvSpPr>
          <p:cNvPr id="17" name="Shape 13"/>
          <p:cNvSpPr/>
          <p:nvPr/>
        </p:nvSpPr>
        <p:spPr>
          <a:xfrm>
            <a:off x="6263640" y="2606040"/>
            <a:ext cx="5120640" cy="1051560"/>
          </a:xfrm>
          <a:prstGeom prst="roundRect">
            <a:avLst>
              <a:gd name="adj" fmla="val 10435"/>
            </a:avLst>
          </a:prstGeom>
          <a:solidFill>
            <a:srgbClr val="E4A83A"/>
          </a:solidFill>
          <a:ln w="12700">
            <a:solidFill>
              <a:srgbClr val="E4A83A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83096" y="2779776"/>
            <a:ext cx="4681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033"/>
                </a:solidFill>
              </a:rPr>
              <a:t>BLOCCO 2 · 45'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02033"/>
                </a:solidFill>
              </a:rPr>
              <a:t>Dal prompt al risultato</a:t>
            </a:r>
            <a:endParaRPr lang="en-US" sz="1900" dirty="0"/>
          </a:p>
        </p:txBody>
      </p:sp>
      <p:sp>
        <p:nvSpPr>
          <p:cNvPr id="19" name="Shape 15"/>
          <p:cNvSpPr/>
          <p:nvPr/>
        </p:nvSpPr>
        <p:spPr>
          <a:xfrm>
            <a:off x="1051560" y="416052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E6ECF2">
                <a:alpha val="90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252728" y="432511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Metodo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1252728" y="4663440"/>
            <a:ext cx="179222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B6E"/>
                </a:solidFill>
              </a:rPr>
              <a:t>Prompt, esempi, formula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3566160" y="416052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E6ECF2">
                <a:alpha val="90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767328" y="432511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Mini-demo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3767328" y="4663440"/>
            <a:ext cx="179222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B6E"/>
                </a:solidFill>
              </a:rPr>
              <a:t>Tre prompt, tre risultati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6080760" y="416052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E6ECF2">
                <a:alpha val="9000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281928" y="432511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Case-study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6281928" y="4663440"/>
            <a:ext cx="179222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B6E"/>
                </a:solidFill>
              </a:rPr>
              <a:t>Excel + piano operativo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8595360" y="416052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E6ECF2">
                <a:alpha val="9000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796528" y="432511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Consapevolezza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8796528" y="4663440"/>
            <a:ext cx="179222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B6E"/>
                </a:solidFill>
              </a:rPr>
              <a:t>Rischi e 5 regole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457200" y="651052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Chiedilo all'IA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9C8D9"/>
                </a:solidFill>
              </a:rPr>
              <a:t>04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457200" y="6382512"/>
            <a:ext cx="11155680" cy="0"/>
          </a:xfrm>
          <a:prstGeom prst="line">
            <a:avLst/>
          </a:prstGeom>
          <a:noFill/>
          <a:ln w="7620">
            <a:solidFill>
              <a:srgbClr val="244059">
                <a:alpha val="7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1"/>
          </a:solidFill>
          <a:ln w="12700">
            <a:solidFill>
              <a:srgbClr val="071A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251960"/>
            <a:ext cx="6309360" cy="2743200"/>
          </a:xfrm>
          <a:prstGeom prst="arc">
            <a:avLst/>
          </a:prstGeom>
          <a:noFill/>
          <a:ln w="406400">
            <a:solidFill>
              <a:srgbClr val="F7F1E6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0"/>
            <a:ext cx="5303520" cy="1828800"/>
          </a:xfrm>
          <a:prstGeom prst="arc">
            <a:avLst/>
          </a:prstGeom>
          <a:noFill/>
          <a:ln w="355600">
            <a:solidFill>
              <a:srgbClr val="218A84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023360"/>
            <a:ext cx="5303520" cy="2926080"/>
          </a:xfrm>
          <a:prstGeom prst="arc">
            <a:avLst/>
          </a:prstGeom>
          <a:noFill/>
          <a:ln w="38100">
            <a:solidFill>
              <a:srgbClr val="E4A83A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206240"/>
            <a:ext cx="4572000" cy="2377440"/>
          </a:xfrm>
          <a:prstGeom prst="arc">
            <a:avLst/>
          </a:prstGeom>
          <a:noFill/>
          <a:ln w="25400">
            <a:solidFill>
              <a:srgbClr val="E4A83A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38360" y="5440680"/>
            <a:ext cx="128016" cy="128016"/>
          </a:xfrm>
          <a:prstGeom prst="ellipse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4389120"/>
            <a:ext cx="91440" cy="91440"/>
          </a:xfrm>
          <a:prstGeom prst="ellipse">
            <a:avLst/>
          </a:prstGeom>
          <a:solidFill>
            <a:srgbClr val="218A84"/>
          </a:solidFill>
          <a:ln w="12700">
            <a:solidFill>
              <a:srgbClr val="218A84"/>
            </a:solidFill>
            <a:prstDash val="solid"/>
          </a:ln>
        </p:spPr>
      </p:sp>
      <p:pic>
        <p:nvPicPr>
          <p:cNvPr id="9" name="Image 0" descr="/mnt/data/logo-bcc-no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1508760" cy="676656"/>
          </a:xfrm>
          <a:prstGeom prst="rect">
            <a:avLst/>
          </a:prstGeom>
        </p:spPr>
      </p:pic>
      <p:pic>
        <p:nvPicPr>
          <p:cNvPr id="10" name="Image 1" descr="/mnt/data/logo_bi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51206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16768" y="30175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evolve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85800" y="10241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Tutti parlano di IA.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Pochi la guidano.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713232" y="164592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9C8D9"/>
                </a:solidFill>
              </a:rPr>
              <a:t>Avere accesso allo strumento non significa ottenere valore.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13232" y="2121408"/>
            <a:ext cx="713232" cy="50292"/>
          </a:xfrm>
          <a:prstGeom prst="rect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2788920"/>
            <a:ext cx="3017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6ECF2">
                <a:alpha val="9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15568" y="295351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Provare l'IA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115568" y="3291840"/>
            <a:ext cx="261518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B6E"/>
                </a:solidFill>
              </a:rPr>
              <a:t>Scrivo una domanda generica e leggo la prima risposta.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160520" y="31363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4A83A"/>
                </a:solidFill>
              </a:rPr>
              <a:t>≠</a:t>
            </a:r>
            <a:endParaRPr lang="en-US" sz="3400" dirty="0"/>
          </a:p>
        </p:txBody>
      </p:sp>
      <p:sp>
        <p:nvSpPr>
          <p:cNvPr id="19" name="Shape 15"/>
          <p:cNvSpPr/>
          <p:nvPr/>
        </p:nvSpPr>
        <p:spPr>
          <a:xfrm>
            <a:off x="4846320" y="2788920"/>
            <a:ext cx="3017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6ECF2">
                <a:alpha val="90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047488" y="295351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Usare metodo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5047488" y="3291840"/>
            <a:ext cx="261518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B6E"/>
                </a:solidFill>
              </a:rPr>
              <a:t>Do contesto, obiettivo, vincoli e formato atteso.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8183880" y="31455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4A83A"/>
                </a:solidFill>
              </a:rPr>
              <a:t>→</a:t>
            </a:r>
            <a:endParaRPr lang="en-US" sz="3400" dirty="0"/>
          </a:p>
        </p:txBody>
      </p:sp>
      <p:sp>
        <p:nvSpPr>
          <p:cNvPr id="23" name="Shape 19"/>
          <p:cNvSpPr/>
          <p:nvPr/>
        </p:nvSpPr>
        <p:spPr>
          <a:xfrm>
            <a:off x="8869680" y="278892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6ECF2">
                <a:alpha val="90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070848" y="2953512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Risultato utile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9070848" y="3291840"/>
            <a:ext cx="197510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B6E"/>
                </a:solidFill>
              </a:rPr>
              <a:t>Meno generico, più operativo, più verificabile.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457200" y="651052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Chiedilo all'IA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9C8D9"/>
                </a:solidFill>
              </a:rPr>
              <a:t>05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457200" y="6382512"/>
            <a:ext cx="11155680" cy="0"/>
          </a:xfrm>
          <a:prstGeom prst="line">
            <a:avLst/>
          </a:prstGeom>
          <a:noFill/>
          <a:ln w="7620">
            <a:solidFill>
              <a:srgbClr val="244059">
                <a:alpha val="7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1"/>
          </a:solidFill>
          <a:ln w="12700">
            <a:solidFill>
              <a:srgbClr val="071A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251960"/>
            <a:ext cx="6309360" cy="2743200"/>
          </a:xfrm>
          <a:prstGeom prst="arc">
            <a:avLst/>
          </a:prstGeom>
          <a:noFill/>
          <a:ln w="406400">
            <a:solidFill>
              <a:srgbClr val="F7F1E6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0"/>
            <a:ext cx="5303520" cy="1828800"/>
          </a:xfrm>
          <a:prstGeom prst="arc">
            <a:avLst/>
          </a:prstGeom>
          <a:noFill/>
          <a:ln w="355600">
            <a:solidFill>
              <a:srgbClr val="218A84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023360"/>
            <a:ext cx="5303520" cy="2926080"/>
          </a:xfrm>
          <a:prstGeom prst="arc">
            <a:avLst/>
          </a:prstGeom>
          <a:noFill/>
          <a:ln w="38100">
            <a:solidFill>
              <a:srgbClr val="E4A83A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206240"/>
            <a:ext cx="4572000" cy="2377440"/>
          </a:xfrm>
          <a:prstGeom prst="arc">
            <a:avLst/>
          </a:prstGeom>
          <a:noFill/>
          <a:ln w="25400">
            <a:solidFill>
              <a:srgbClr val="E4A83A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38360" y="5440680"/>
            <a:ext cx="128016" cy="128016"/>
          </a:xfrm>
          <a:prstGeom prst="ellipse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4389120"/>
            <a:ext cx="91440" cy="91440"/>
          </a:xfrm>
          <a:prstGeom prst="ellipse">
            <a:avLst/>
          </a:prstGeom>
          <a:solidFill>
            <a:srgbClr val="218A84"/>
          </a:solidFill>
          <a:ln w="12700">
            <a:solidFill>
              <a:srgbClr val="218A84"/>
            </a:solidFill>
            <a:prstDash val="solid"/>
          </a:ln>
        </p:spPr>
      </p:sp>
      <p:pic>
        <p:nvPicPr>
          <p:cNvPr id="9" name="Image 0" descr="/mnt/data/logo-bcc-no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1508760" cy="676656"/>
          </a:xfrm>
          <a:prstGeom prst="rect">
            <a:avLst/>
          </a:prstGeom>
        </p:spPr>
      </p:pic>
      <p:pic>
        <p:nvPicPr>
          <p:cNvPr id="10" name="Image 1" descr="/mnt/data/logo_bi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51206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16768" y="30175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evolve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31520" y="11704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A83A"/>
                </a:solidFill>
              </a:rPr>
              <a:t>BLOCCO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31520" y="169164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 basta chiedere: bisogna guidare</a:t>
            </a:r>
            <a:endParaRPr lang="en-US" sz="4200" dirty="0"/>
          </a:p>
        </p:txBody>
      </p:sp>
      <p:sp>
        <p:nvSpPr>
          <p:cNvPr id="14" name="Text 10"/>
          <p:cNvSpPr/>
          <p:nvPr/>
        </p:nvSpPr>
        <p:spPr>
          <a:xfrm>
            <a:off x="768096" y="2788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C8D9"/>
                </a:solidFill>
              </a:rPr>
              <a:t>Prompt, metodo, esempi e mini-demo.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57200" y="651052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Chiedilo all'IA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9C8D9"/>
                </a:solidFill>
              </a:rPr>
              <a:t>06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457200" y="6382512"/>
            <a:ext cx="11155680" cy="0"/>
          </a:xfrm>
          <a:prstGeom prst="line">
            <a:avLst/>
          </a:prstGeom>
          <a:noFill/>
          <a:ln w="7620">
            <a:solidFill>
              <a:srgbClr val="244059">
                <a:alpha val="7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1"/>
          </a:solidFill>
          <a:ln w="12700">
            <a:solidFill>
              <a:srgbClr val="071A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251960"/>
            <a:ext cx="6309360" cy="2743200"/>
          </a:xfrm>
          <a:prstGeom prst="arc">
            <a:avLst/>
          </a:prstGeom>
          <a:noFill/>
          <a:ln w="406400">
            <a:solidFill>
              <a:srgbClr val="F7F1E6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0"/>
            <a:ext cx="5303520" cy="1828800"/>
          </a:xfrm>
          <a:prstGeom prst="arc">
            <a:avLst/>
          </a:prstGeom>
          <a:noFill/>
          <a:ln w="355600">
            <a:solidFill>
              <a:srgbClr val="218A84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023360"/>
            <a:ext cx="5303520" cy="2926080"/>
          </a:xfrm>
          <a:prstGeom prst="arc">
            <a:avLst/>
          </a:prstGeom>
          <a:noFill/>
          <a:ln w="38100">
            <a:solidFill>
              <a:srgbClr val="E4A83A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206240"/>
            <a:ext cx="4572000" cy="2377440"/>
          </a:xfrm>
          <a:prstGeom prst="arc">
            <a:avLst/>
          </a:prstGeom>
          <a:noFill/>
          <a:ln w="25400">
            <a:solidFill>
              <a:srgbClr val="E4A83A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38360" y="5440680"/>
            <a:ext cx="128016" cy="128016"/>
          </a:xfrm>
          <a:prstGeom prst="ellipse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4389120"/>
            <a:ext cx="91440" cy="91440"/>
          </a:xfrm>
          <a:prstGeom prst="ellipse">
            <a:avLst/>
          </a:prstGeom>
          <a:solidFill>
            <a:srgbClr val="218A84"/>
          </a:solidFill>
          <a:ln w="12700">
            <a:solidFill>
              <a:srgbClr val="218A84"/>
            </a:solidFill>
            <a:prstDash val="solid"/>
          </a:ln>
        </p:spPr>
      </p:sp>
      <p:pic>
        <p:nvPicPr>
          <p:cNvPr id="9" name="Image 0" descr="/mnt/data/logo-bcc-no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1508760" cy="676656"/>
          </a:xfrm>
          <a:prstGeom prst="rect">
            <a:avLst/>
          </a:prstGeom>
        </p:spPr>
      </p:pic>
      <p:pic>
        <p:nvPicPr>
          <p:cNvPr id="10" name="Image 1" descr="/mnt/data/logo_bi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51206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16768" y="30175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evolve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85800" y="10241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Cos'è davvero un prompt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713232" y="164592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9C8D9"/>
                </a:solidFill>
              </a:rPr>
              <a:t>Non è un tecnicismo: è una competenza comunicativa.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13232" y="2121408"/>
            <a:ext cx="713232" cy="50292"/>
          </a:xfrm>
          <a:prstGeom prst="rect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51560" y="2468880"/>
            <a:ext cx="10058400" cy="777240"/>
          </a:xfrm>
          <a:prstGeom prst="roundRect">
            <a:avLst>
              <a:gd name="adj" fmla="val 14118"/>
            </a:avLst>
          </a:prstGeom>
          <a:solidFill>
            <a:srgbClr val="218A84"/>
          </a:solidFill>
          <a:ln w="12700">
            <a:solidFill>
              <a:srgbClr val="218A84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271016" y="2642616"/>
            <a:ext cx="9619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Il prompt è il modo in cui trasformiamo un bisogno in istruzioni comprensibili per l'IA.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914400" y="3703320"/>
            <a:ext cx="30175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E6ECF2">
                <a:alpha val="9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115568" y="386791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Bisogno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1115568" y="4206240"/>
            <a:ext cx="26151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B6E"/>
                </a:solidFill>
              </a:rPr>
              <a:t>“Mi serve una mail”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572000" y="3703320"/>
            <a:ext cx="30175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E6ECF2">
                <a:alpha val="9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773168" y="386791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Istruzioni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4773168" y="4206240"/>
            <a:ext cx="26151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B6E"/>
                </a:solidFill>
              </a:rPr>
              <a:t>Destinatario, obiettivo, tono, limiti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8229600" y="3703320"/>
            <a:ext cx="30175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E6ECF2">
                <a:alpha val="90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430768" y="386791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Output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8430768" y="4206240"/>
            <a:ext cx="26151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B6E"/>
                </a:solidFill>
              </a:rPr>
              <a:t>Oggetto + corpo, pronto da revisionare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457200" y="651052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Chiedilo all'IA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9C8D9"/>
                </a:solidFill>
              </a:rPr>
              <a:t>07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457200" y="6382512"/>
            <a:ext cx="11155680" cy="0"/>
          </a:xfrm>
          <a:prstGeom prst="line">
            <a:avLst/>
          </a:prstGeom>
          <a:noFill/>
          <a:ln w="7620">
            <a:solidFill>
              <a:srgbClr val="244059">
                <a:alpha val="7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1"/>
          </a:solidFill>
          <a:ln w="12700">
            <a:solidFill>
              <a:srgbClr val="071A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251960"/>
            <a:ext cx="6309360" cy="2743200"/>
          </a:xfrm>
          <a:prstGeom prst="arc">
            <a:avLst/>
          </a:prstGeom>
          <a:noFill/>
          <a:ln w="406400">
            <a:solidFill>
              <a:srgbClr val="F7F1E6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0"/>
            <a:ext cx="5303520" cy="1828800"/>
          </a:xfrm>
          <a:prstGeom prst="arc">
            <a:avLst/>
          </a:prstGeom>
          <a:noFill/>
          <a:ln w="355600">
            <a:solidFill>
              <a:srgbClr val="218A84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023360"/>
            <a:ext cx="5303520" cy="2926080"/>
          </a:xfrm>
          <a:prstGeom prst="arc">
            <a:avLst/>
          </a:prstGeom>
          <a:noFill/>
          <a:ln w="38100">
            <a:solidFill>
              <a:srgbClr val="E4A83A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206240"/>
            <a:ext cx="4572000" cy="2377440"/>
          </a:xfrm>
          <a:prstGeom prst="arc">
            <a:avLst/>
          </a:prstGeom>
          <a:noFill/>
          <a:ln w="25400">
            <a:solidFill>
              <a:srgbClr val="E4A83A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38360" y="5440680"/>
            <a:ext cx="128016" cy="128016"/>
          </a:xfrm>
          <a:prstGeom prst="ellipse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4389120"/>
            <a:ext cx="91440" cy="91440"/>
          </a:xfrm>
          <a:prstGeom prst="ellipse">
            <a:avLst/>
          </a:prstGeom>
          <a:solidFill>
            <a:srgbClr val="218A84"/>
          </a:solidFill>
          <a:ln w="12700">
            <a:solidFill>
              <a:srgbClr val="218A84"/>
            </a:solidFill>
            <a:prstDash val="solid"/>
          </a:ln>
        </p:spPr>
      </p:sp>
      <p:pic>
        <p:nvPicPr>
          <p:cNvPr id="9" name="Image 0" descr="/mnt/data/logo-bcc-no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1508760" cy="676656"/>
          </a:xfrm>
          <a:prstGeom prst="rect">
            <a:avLst/>
          </a:prstGeom>
        </p:spPr>
      </p:pic>
      <p:pic>
        <p:nvPicPr>
          <p:cNvPr id="10" name="Image 1" descr="/mnt/data/logo_bi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51206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16768" y="30175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evolve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85800" y="10241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debole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713232" y="164592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9C8D9"/>
                </a:solidFill>
              </a:rPr>
              <a:t>La richiesta che molti farebbero al primo tentativo.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13232" y="2121408"/>
            <a:ext cx="713232" cy="50292"/>
          </a:xfrm>
          <a:prstGeom prst="rect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828800" y="260604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102B4E"/>
          </a:solidFill>
          <a:ln w="12700">
            <a:solidFill>
              <a:srgbClr val="244D7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148840" y="29443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Scrivimi una mail per un cliente.</a:t>
            </a:r>
            <a:endParaRPr lang="en-US" sz="2600" dirty="0"/>
          </a:p>
        </p:txBody>
      </p:sp>
      <p:sp>
        <p:nvSpPr>
          <p:cNvPr id="17" name="Shape 13"/>
          <p:cNvSpPr/>
          <p:nvPr/>
        </p:nvSpPr>
        <p:spPr>
          <a:xfrm>
            <a:off x="2926080" y="4398264"/>
            <a:ext cx="100584" cy="100584"/>
          </a:xfrm>
          <a:prstGeom prst="ellipse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154680" y="4343400"/>
            <a:ext cx="6355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9C8D9"/>
                </a:solidFill>
              </a:rPr>
              <a:t>Non dice chi è il cliente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2926080" y="4809744"/>
            <a:ext cx="100584" cy="100584"/>
          </a:xfrm>
          <a:prstGeom prst="ellipse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154680" y="4754880"/>
            <a:ext cx="6355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9C8D9"/>
                </a:solidFill>
              </a:rPr>
              <a:t>Non dice l'obiettivo della mail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2926080" y="5221224"/>
            <a:ext cx="100584" cy="100584"/>
          </a:xfrm>
          <a:prstGeom prst="ellipse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154680" y="5166360"/>
            <a:ext cx="6355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9C8D9"/>
                </a:solidFill>
              </a:rPr>
              <a:t>Non indica tono, lunghezza o formato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457200" y="651052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Chiedilo all'IA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9C8D9"/>
                </a:solidFill>
              </a:rPr>
              <a:t>08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457200" y="6382512"/>
            <a:ext cx="11155680" cy="0"/>
          </a:xfrm>
          <a:prstGeom prst="line">
            <a:avLst/>
          </a:prstGeom>
          <a:noFill/>
          <a:ln w="7620">
            <a:solidFill>
              <a:srgbClr val="244059">
                <a:alpha val="7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1"/>
          </a:solidFill>
          <a:ln w="12700">
            <a:solidFill>
              <a:srgbClr val="071A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251960"/>
            <a:ext cx="6309360" cy="2743200"/>
          </a:xfrm>
          <a:prstGeom prst="arc">
            <a:avLst/>
          </a:prstGeom>
          <a:noFill/>
          <a:ln w="406400">
            <a:solidFill>
              <a:srgbClr val="F7F1E6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0"/>
            <a:ext cx="5303520" cy="1828800"/>
          </a:xfrm>
          <a:prstGeom prst="arc">
            <a:avLst/>
          </a:prstGeom>
          <a:noFill/>
          <a:ln w="355600">
            <a:solidFill>
              <a:srgbClr val="218A84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023360"/>
            <a:ext cx="5303520" cy="2926080"/>
          </a:xfrm>
          <a:prstGeom prst="arc">
            <a:avLst/>
          </a:prstGeom>
          <a:noFill/>
          <a:ln w="38100">
            <a:solidFill>
              <a:srgbClr val="E4A83A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206240"/>
            <a:ext cx="4572000" cy="2377440"/>
          </a:xfrm>
          <a:prstGeom prst="arc">
            <a:avLst/>
          </a:prstGeom>
          <a:noFill/>
          <a:ln w="25400">
            <a:solidFill>
              <a:srgbClr val="E4A83A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38360" y="5440680"/>
            <a:ext cx="128016" cy="128016"/>
          </a:xfrm>
          <a:prstGeom prst="ellipse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4389120"/>
            <a:ext cx="91440" cy="91440"/>
          </a:xfrm>
          <a:prstGeom prst="ellipse">
            <a:avLst/>
          </a:prstGeom>
          <a:solidFill>
            <a:srgbClr val="218A84"/>
          </a:solidFill>
          <a:ln w="12700">
            <a:solidFill>
              <a:srgbClr val="218A84"/>
            </a:solidFill>
            <a:prstDash val="solid"/>
          </a:ln>
        </p:spPr>
      </p:sp>
      <p:pic>
        <p:nvPicPr>
          <p:cNvPr id="9" name="Image 0" descr="/mnt/data/logo-bcc-no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1508760" cy="676656"/>
          </a:xfrm>
          <a:prstGeom prst="rect">
            <a:avLst/>
          </a:prstGeom>
        </p:spPr>
      </p:pic>
      <p:pic>
        <p:nvPicPr>
          <p:cNvPr id="10" name="Image 1" descr="/mnt/data/logo_bi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51206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16768" y="30175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evolve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85800" y="10241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efficace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713232" y="164592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9C8D9"/>
                </a:solidFill>
              </a:rPr>
              <a:t>Stessa esigenza, ma richiesta guidata.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13232" y="2121408"/>
            <a:ext cx="713232" cy="50292"/>
          </a:xfrm>
          <a:prstGeom prst="rect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2331720"/>
            <a:ext cx="5074920" cy="2377440"/>
          </a:xfrm>
          <a:prstGeom prst="roundRect">
            <a:avLst>
              <a:gd name="adj" fmla="val 3846"/>
            </a:avLst>
          </a:prstGeom>
          <a:solidFill>
            <a:srgbClr val="102B4E"/>
          </a:solidFill>
          <a:ln w="10160">
            <a:solidFill>
              <a:srgbClr val="244D73">
                <a:alpha val="9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78408" y="2496312"/>
            <a:ext cx="4672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A83A"/>
                </a:solidFill>
              </a:rPr>
              <a:t>Prima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978408" y="2834640"/>
            <a:ext cx="4672584" cy="1719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Scrivimi una mail per un cliente.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355080" y="2331720"/>
            <a:ext cx="5074920" cy="2377440"/>
          </a:xfrm>
          <a:prstGeom prst="roundRect">
            <a:avLst>
              <a:gd name="adj" fmla="val 3846"/>
            </a:avLst>
          </a:prstGeom>
          <a:solidFill>
            <a:srgbClr val="102B4E"/>
          </a:solidFill>
          <a:ln w="10160">
            <a:solidFill>
              <a:srgbClr val="244D73">
                <a:alpha val="9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556248" y="2496312"/>
            <a:ext cx="4672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3C43B"/>
                </a:solidFill>
              </a:rPr>
              <a:t>Dopo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556248" y="2834640"/>
            <a:ext cx="4672584" cy="1719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Scrivi una mail professionale ma cordiale per rispondere a un cliente interessato a un servizio di consulenza digitale. Obiettivo: fissare una call conoscitiva. Tono chiaro, sintetico, non troppo commerciale. Restituisci oggetto + corpo.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1325880" y="5212080"/>
            <a:ext cx="9601200" cy="548640"/>
          </a:xfrm>
          <a:prstGeom prst="roundRect">
            <a:avLst>
              <a:gd name="adj" fmla="val 20000"/>
            </a:avLst>
          </a:prstGeom>
          <a:solidFill>
            <a:srgbClr val="E4A83A"/>
          </a:solidFill>
          <a:ln w="12700">
            <a:solidFill>
              <a:srgbClr val="E4A83A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545336" y="5385816"/>
            <a:ext cx="9162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033"/>
                </a:solidFill>
              </a:rPr>
              <a:t>Più l'IA comprende contesto, obiettivo e vincoli, più la risposta diventa utile.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457200" y="651052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Chiedilo all'IA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9C8D9"/>
                </a:solidFill>
              </a:rPr>
              <a:t>09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457200" y="6382512"/>
            <a:ext cx="11155680" cy="0"/>
          </a:xfrm>
          <a:prstGeom prst="line">
            <a:avLst/>
          </a:prstGeom>
          <a:noFill/>
          <a:ln w="7620">
            <a:solidFill>
              <a:srgbClr val="244059">
                <a:alpha val="7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1"/>
          </a:solidFill>
          <a:ln w="12700">
            <a:solidFill>
              <a:srgbClr val="071A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251960"/>
            <a:ext cx="6309360" cy="2743200"/>
          </a:xfrm>
          <a:prstGeom prst="arc">
            <a:avLst/>
          </a:prstGeom>
          <a:noFill/>
          <a:ln w="406400">
            <a:solidFill>
              <a:srgbClr val="F7F1E6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0"/>
            <a:ext cx="5303520" cy="1828800"/>
          </a:xfrm>
          <a:prstGeom prst="arc">
            <a:avLst/>
          </a:prstGeom>
          <a:noFill/>
          <a:ln w="355600">
            <a:solidFill>
              <a:srgbClr val="218A84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023360"/>
            <a:ext cx="5303520" cy="2926080"/>
          </a:xfrm>
          <a:prstGeom prst="arc">
            <a:avLst/>
          </a:prstGeom>
          <a:noFill/>
          <a:ln w="38100">
            <a:solidFill>
              <a:srgbClr val="E4A83A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206240"/>
            <a:ext cx="4572000" cy="2377440"/>
          </a:xfrm>
          <a:prstGeom prst="arc">
            <a:avLst/>
          </a:prstGeom>
          <a:noFill/>
          <a:ln w="25400">
            <a:solidFill>
              <a:srgbClr val="E4A83A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38360" y="5440680"/>
            <a:ext cx="128016" cy="128016"/>
          </a:xfrm>
          <a:prstGeom prst="ellipse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4389120"/>
            <a:ext cx="91440" cy="91440"/>
          </a:xfrm>
          <a:prstGeom prst="ellipse">
            <a:avLst/>
          </a:prstGeom>
          <a:solidFill>
            <a:srgbClr val="218A84"/>
          </a:solidFill>
          <a:ln w="12700">
            <a:solidFill>
              <a:srgbClr val="218A84"/>
            </a:solidFill>
            <a:prstDash val="solid"/>
          </a:ln>
        </p:spPr>
      </p:sp>
      <p:pic>
        <p:nvPicPr>
          <p:cNvPr id="9" name="Image 0" descr="/mnt/data/logo-bcc-no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1508760" cy="676656"/>
          </a:xfrm>
          <a:prstGeom prst="rect">
            <a:avLst/>
          </a:prstGeom>
        </p:spPr>
      </p:pic>
      <p:pic>
        <p:nvPicPr>
          <p:cNvPr id="10" name="Image 1" descr="/mnt/data/logo_bi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51206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16768" y="30175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evolve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85800" y="10241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formula pratica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713232" y="164592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9C8D9"/>
                </a:solidFill>
              </a:rPr>
              <a:t>Cinque ingredienti da ricordare.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13232" y="2121408"/>
            <a:ext cx="713232" cy="50292"/>
          </a:xfrm>
          <a:prstGeom prst="rect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8368" y="274320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E6ECF2">
                <a:alpha val="9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59536" y="2907792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18A84"/>
                </a:solidFill>
              </a:rPr>
              <a:t>Contesto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859536" y="3246120"/>
            <a:ext cx="156362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B6E"/>
                </a:solidFill>
              </a:rPr>
              <a:t>In che situazione siamo?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2688336" y="31272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A83A"/>
                </a:solidFill>
              </a:rPr>
              <a:t>+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2990088" y="274320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7F1E6"/>
          </a:solidFill>
          <a:ln w="10160">
            <a:solidFill>
              <a:srgbClr val="E6ECF2">
                <a:alpha val="90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191256" y="2907792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A83A"/>
                </a:solidFill>
              </a:rPr>
              <a:t>Obiettivo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3191256" y="3246120"/>
            <a:ext cx="156362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B6E"/>
                </a:solidFill>
              </a:rPr>
              <a:t>Che risultato voglio?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5020056" y="31272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A83A"/>
                </a:solidFill>
              </a:rPr>
              <a:t>+</a:t>
            </a:r>
            <a:endParaRPr lang="en-US" sz="2200" dirty="0"/>
          </a:p>
        </p:txBody>
      </p:sp>
      <p:sp>
        <p:nvSpPr>
          <p:cNvPr id="23" name="Shape 19"/>
          <p:cNvSpPr/>
          <p:nvPr/>
        </p:nvSpPr>
        <p:spPr>
          <a:xfrm>
            <a:off x="5321808" y="274320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E6ECF2">
                <a:alpha val="90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522976" y="2907792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18A84"/>
                </a:solidFill>
              </a:rPr>
              <a:t>Istruzioni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5522976" y="3246120"/>
            <a:ext cx="156362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B6E"/>
                </a:solidFill>
              </a:rPr>
              <a:t>Cosa deve fare l'IA?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7351776" y="31272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A83A"/>
                </a:solidFill>
              </a:rPr>
              <a:t>+</a:t>
            </a:r>
            <a:endParaRPr lang="en-US" sz="2200" dirty="0"/>
          </a:p>
        </p:txBody>
      </p:sp>
      <p:sp>
        <p:nvSpPr>
          <p:cNvPr id="27" name="Shape 23"/>
          <p:cNvSpPr/>
          <p:nvPr/>
        </p:nvSpPr>
        <p:spPr>
          <a:xfrm>
            <a:off x="7653528" y="274320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7F1E6"/>
          </a:solidFill>
          <a:ln w="10160">
            <a:solidFill>
              <a:srgbClr val="E6ECF2">
                <a:alpha val="90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854696" y="2907792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A83A"/>
                </a:solidFill>
              </a:rPr>
              <a:t>Vincoli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7854696" y="3246120"/>
            <a:ext cx="156362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B6E"/>
                </a:solidFill>
              </a:rPr>
              <a:t>Cosa deve rispettare o evitare?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9683496" y="31272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A83A"/>
                </a:solidFill>
              </a:rPr>
              <a:t>+</a:t>
            </a:r>
            <a:endParaRPr lang="en-US" sz="2200" dirty="0"/>
          </a:p>
        </p:txBody>
      </p:sp>
      <p:sp>
        <p:nvSpPr>
          <p:cNvPr id="31" name="Shape 27"/>
          <p:cNvSpPr/>
          <p:nvPr/>
        </p:nvSpPr>
        <p:spPr>
          <a:xfrm>
            <a:off x="9985248" y="274320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E6ECF2">
                <a:alpha val="9000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0186416" y="2907792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18A84"/>
                </a:solidFill>
              </a:rPr>
              <a:t>Formato</a:t>
            </a:r>
            <a:endParaRPr lang="en-US" sz="1500" dirty="0"/>
          </a:p>
        </p:txBody>
      </p:sp>
      <p:sp>
        <p:nvSpPr>
          <p:cNvPr id="33" name="Text 29"/>
          <p:cNvSpPr/>
          <p:nvPr/>
        </p:nvSpPr>
        <p:spPr>
          <a:xfrm>
            <a:off x="10186416" y="3246120"/>
            <a:ext cx="156362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B6E"/>
                </a:solidFill>
              </a:rPr>
              <a:t>Come voglio l'output?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457200" y="651052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Chiedilo all'IA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9C8D9"/>
                </a:solidFill>
              </a:rPr>
              <a:t>10</a:t>
            </a:r>
            <a:endParaRPr lang="en-US" sz="750" dirty="0"/>
          </a:p>
        </p:txBody>
      </p:sp>
      <p:sp>
        <p:nvSpPr>
          <p:cNvPr id="36" name="Shape 32"/>
          <p:cNvSpPr/>
          <p:nvPr/>
        </p:nvSpPr>
        <p:spPr>
          <a:xfrm>
            <a:off x="457200" y="6382512"/>
            <a:ext cx="11155680" cy="0"/>
          </a:xfrm>
          <a:prstGeom prst="line">
            <a:avLst/>
          </a:prstGeom>
          <a:noFill/>
          <a:ln w="7620">
            <a:solidFill>
              <a:srgbClr val="244059">
                <a:alpha val="7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1"/>
          </a:solidFill>
          <a:ln w="12700">
            <a:solidFill>
              <a:srgbClr val="071A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251960"/>
            <a:ext cx="6309360" cy="2743200"/>
          </a:xfrm>
          <a:prstGeom prst="arc">
            <a:avLst/>
          </a:prstGeom>
          <a:noFill/>
          <a:ln w="406400">
            <a:solidFill>
              <a:srgbClr val="F7F1E6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0"/>
            <a:ext cx="5303520" cy="1828800"/>
          </a:xfrm>
          <a:prstGeom prst="arc">
            <a:avLst/>
          </a:prstGeom>
          <a:noFill/>
          <a:ln w="355600">
            <a:solidFill>
              <a:srgbClr val="218A84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023360"/>
            <a:ext cx="5303520" cy="2926080"/>
          </a:xfrm>
          <a:prstGeom prst="arc">
            <a:avLst/>
          </a:prstGeom>
          <a:noFill/>
          <a:ln w="38100">
            <a:solidFill>
              <a:srgbClr val="E4A83A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206240"/>
            <a:ext cx="4572000" cy="2377440"/>
          </a:xfrm>
          <a:prstGeom prst="arc">
            <a:avLst/>
          </a:prstGeom>
          <a:noFill/>
          <a:ln w="25400">
            <a:solidFill>
              <a:srgbClr val="E4A83A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38360" y="5440680"/>
            <a:ext cx="128016" cy="128016"/>
          </a:xfrm>
          <a:prstGeom prst="ellipse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4389120"/>
            <a:ext cx="91440" cy="91440"/>
          </a:xfrm>
          <a:prstGeom prst="ellipse">
            <a:avLst/>
          </a:prstGeom>
          <a:solidFill>
            <a:srgbClr val="218A84"/>
          </a:solidFill>
          <a:ln w="12700">
            <a:solidFill>
              <a:srgbClr val="218A84"/>
            </a:solidFill>
            <a:prstDash val="solid"/>
          </a:ln>
        </p:spPr>
      </p:sp>
      <p:pic>
        <p:nvPicPr>
          <p:cNvPr id="9" name="Image 0" descr="/mnt/data/logo-bcc-no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1508760" cy="676656"/>
          </a:xfrm>
          <a:prstGeom prst="rect">
            <a:avLst/>
          </a:prstGeom>
        </p:spPr>
      </p:pic>
      <p:pic>
        <p:nvPicPr>
          <p:cNvPr id="10" name="Image 1" descr="/mnt/data/logo_bi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51206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16768" y="30175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evolve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85800" y="10241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Il prompt è una conversazione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713232" y="164592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9C8D9"/>
                </a:solidFill>
              </a:rPr>
              <a:t>Non fermarti quasi mai alla prima risposta.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13232" y="2121408"/>
            <a:ext cx="713232" cy="50292"/>
          </a:xfrm>
          <a:prstGeom prst="rect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05840" y="2788920"/>
            <a:ext cx="713232" cy="713232"/>
          </a:xfrm>
          <a:prstGeom prst="ellipse">
            <a:avLst/>
          </a:prstGeom>
          <a:solidFill>
            <a:srgbClr val="218A84"/>
          </a:solidFill>
          <a:ln w="12700">
            <a:solidFill>
              <a:srgbClr val="218A8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05840" y="294436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685800" y="3657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Chiedi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1764792" y="2971800"/>
            <a:ext cx="502920" cy="320040"/>
          </a:xfrm>
          <a:prstGeom prst="chevron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108960" y="2788920"/>
            <a:ext cx="713232" cy="713232"/>
          </a:xfrm>
          <a:prstGeom prst="ellipse">
            <a:avLst/>
          </a:prstGeom>
          <a:solidFill>
            <a:srgbClr val="218A84"/>
          </a:solidFill>
          <a:ln w="12700">
            <a:solidFill>
              <a:srgbClr val="218A8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108960" y="294436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2788920" y="3657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Leggi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3867912" y="2971800"/>
            <a:ext cx="502920" cy="320040"/>
          </a:xfrm>
          <a:prstGeom prst="chevron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212080" y="2788920"/>
            <a:ext cx="713232" cy="713232"/>
          </a:xfrm>
          <a:prstGeom prst="ellipse">
            <a:avLst/>
          </a:prstGeom>
          <a:solidFill>
            <a:srgbClr val="218A84"/>
          </a:solidFill>
          <a:ln w="12700">
            <a:solidFill>
              <a:srgbClr val="218A8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212080" y="294436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25" name="Text 21"/>
          <p:cNvSpPr/>
          <p:nvPr/>
        </p:nvSpPr>
        <p:spPr>
          <a:xfrm>
            <a:off x="4892040" y="3657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Correggi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5971032" y="2971800"/>
            <a:ext cx="502920" cy="320040"/>
          </a:xfrm>
          <a:prstGeom prst="chevron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0" y="2788920"/>
            <a:ext cx="713232" cy="713232"/>
          </a:xfrm>
          <a:prstGeom prst="ellipse">
            <a:avLst/>
          </a:prstGeom>
          <a:solidFill>
            <a:srgbClr val="218A84"/>
          </a:solidFill>
          <a:ln w="12700">
            <a:solidFill>
              <a:srgbClr val="218A84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315200" y="294436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29" name="Text 25"/>
          <p:cNvSpPr/>
          <p:nvPr/>
        </p:nvSpPr>
        <p:spPr>
          <a:xfrm>
            <a:off x="6995160" y="3657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Verifica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8074152" y="2971800"/>
            <a:ext cx="502920" cy="320040"/>
          </a:xfrm>
          <a:prstGeom prst="chevron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9418320" y="2788920"/>
            <a:ext cx="713232" cy="713232"/>
          </a:xfrm>
          <a:prstGeom prst="ellipse">
            <a:avLst/>
          </a:prstGeom>
          <a:solidFill>
            <a:srgbClr val="218A84"/>
          </a:solidFill>
          <a:ln w="12700">
            <a:solidFill>
              <a:srgbClr val="218A84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9418320" y="294436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5</a:t>
            </a:r>
            <a:endParaRPr lang="en-US" sz="1700" dirty="0"/>
          </a:p>
        </p:txBody>
      </p:sp>
      <p:sp>
        <p:nvSpPr>
          <p:cNvPr id="33" name="Text 29"/>
          <p:cNvSpPr/>
          <p:nvPr/>
        </p:nvSpPr>
        <p:spPr>
          <a:xfrm>
            <a:off x="9098280" y="3657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Migliora</a:t>
            </a:r>
            <a:endParaRPr lang="en-US" sz="1500" dirty="0"/>
          </a:p>
        </p:txBody>
      </p:sp>
      <p:sp>
        <p:nvSpPr>
          <p:cNvPr id="34" name="Shape 30"/>
          <p:cNvSpPr/>
          <p:nvPr/>
        </p:nvSpPr>
        <p:spPr>
          <a:xfrm>
            <a:off x="1143000" y="4800600"/>
            <a:ext cx="9875520" cy="530352"/>
          </a:xfrm>
          <a:prstGeom prst="roundRect">
            <a:avLst>
              <a:gd name="adj" fmla="val 20690"/>
            </a:avLst>
          </a:prstGeom>
          <a:solidFill>
            <a:srgbClr val="102B4E"/>
          </a:solidFill>
          <a:ln w="12700">
            <a:solidFill>
              <a:srgbClr val="244D73">
                <a:alpha val="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362456" y="4974336"/>
            <a:ext cx="9436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“Rendila più breve”, “spiegala meglio”, “controlla i rischi”, “adattala a questo pubblico”.</a:t>
            </a:r>
            <a:endParaRPr lang="en-US" sz="1500" dirty="0"/>
          </a:p>
        </p:txBody>
      </p:sp>
      <p:sp>
        <p:nvSpPr>
          <p:cNvPr id="36" name="Text 32"/>
          <p:cNvSpPr/>
          <p:nvPr/>
        </p:nvSpPr>
        <p:spPr>
          <a:xfrm>
            <a:off x="457200" y="651052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Chiedilo all'IA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9C8D9"/>
                </a:solidFill>
              </a:rPr>
              <a:t>11</a:t>
            </a:r>
            <a:endParaRPr lang="en-US" sz="750" dirty="0"/>
          </a:p>
        </p:txBody>
      </p:sp>
      <p:sp>
        <p:nvSpPr>
          <p:cNvPr id="38" name="Shape 34"/>
          <p:cNvSpPr/>
          <p:nvPr/>
        </p:nvSpPr>
        <p:spPr>
          <a:xfrm>
            <a:off x="457200" y="6382512"/>
            <a:ext cx="11155680" cy="0"/>
          </a:xfrm>
          <a:prstGeom prst="line">
            <a:avLst/>
          </a:prstGeom>
          <a:noFill/>
          <a:ln w="7620">
            <a:solidFill>
              <a:srgbClr val="244059">
                <a:alpha val="7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1"/>
          </a:solidFill>
          <a:ln w="12700">
            <a:solidFill>
              <a:srgbClr val="071A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251960"/>
            <a:ext cx="6309360" cy="2743200"/>
          </a:xfrm>
          <a:prstGeom prst="arc">
            <a:avLst/>
          </a:prstGeom>
          <a:noFill/>
          <a:ln w="406400">
            <a:solidFill>
              <a:srgbClr val="F7F1E6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0"/>
            <a:ext cx="5303520" cy="1828800"/>
          </a:xfrm>
          <a:prstGeom prst="arc">
            <a:avLst/>
          </a:prstGeom>
          <a:noFill/>
          <a:ln w="355600">
            <a:solidFill>
              <a:srgbClr val="218A84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023360"/>
            <a:ext cx="5303520" cy="2926080"/>
          </a:xfrm>
          <a:prstGeom prst="arc">
            <a:avLst/>
          </a:prstGeom>
          <a:noFill/>
          <a:ln w="38100">
            <a:solidFill>
              <a:srgbClr val="E4A83A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206240"/>
            <a:ext cx="4572000" cy="2377440"/>
          </a:xfrm>
          <a:prstGeom prst="arc">
            <a:avLst/>
          </a:prstGeom>
          <a:noFill/>
          <a:ln w="25400">
            <a:solidFill>
              <a:srgbClr val="E4A83A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38360" y="5440680"/>
            <a:ext cx="128016" cy="128016"/>
          </a:xfrm>
          <a:prstGeom prst="ellipse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4389120"/>
            <a:ext cx="91440" cy="91440"/>
          </a:xfrm>
          <a:prstGeom prst="ellipse">
            <a:avLst/>
          </a:prstGeom>
          <a:solidFill>
            <a:srgbClr val="218A84"/>
          </a:solidFill>
          <a:ln w="12700">
            <a:solidFill>
              <a:srgbClr val="218A84"/>
            </a:solidFill>
            <a:prstDash val="solid"/>
          </a:ln>
        </p:spPr>
      </p:sp>
      <p:pic>
        <p:nvPicPr>
          <p:cNvPr id="9" name="Image 0" descr="/mnt/data/logo-bcc-no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1508760" cy="676656"/>
          </a:xfrm>
          <a:prstGeom prst="rect">
            <a:avLst/>
          </a:prstGeom>
        </p:spPr>
      </p:pic>
      <p:pic>
        <p:nvPicPr>
          <p:cNvPr id="10" name="Image 1" descr="/mnt/data/logo_bi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51206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16768" y="30175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evolve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85800" y="10241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Mini-demo: stessa richiesta, tre risultati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713232" y="164592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9C8D9"/>
                </a:solidFill>
              </a:rPr>
              <a:t>Effetto wow 1: non cambia lo strumento, cambia il modo di chiedere.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13232" y="2121408"/>
            <a:ext cx="713232" cy="50292"/>
          </a:xfrm>
          <a:prstGeom prst="rect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" y="242316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102B4E"/>
          </a:solidFill>
          <a:ln w="10160">
            <a:solidFill>
              <a:srgbClr val="244D73">
                <a:alpha val="9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86968" y="2587752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A83A"/>
                </a:solidFill>
              </a:rPr>
              <a:t>Livello 1 · Generico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886968" y="2926080"/>
            <a:ext cx="3072384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“Preparami un testo per invitare clienti a un evento.”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Risultato: corretto, ma generico.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343400" y="242316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102B4E"/>
          </a:solidFill>
          <a:ln w="10160">
            <a:solidFill>
              <a:srgbClr val="244D73">
                <a:alpha val="9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44568" y="2587752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6BFC0"/>
                </a:solidFill>
              </a:rPr>
              <a:t>Livello 2 · Con contesto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544568" y="2926080"/>
            <a:ext cx="3072384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Clienti selezionati di una banca locale, evento IA per imprese e professionisti.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Risultato: più pertinente.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001000" y="242316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102B4E"/>
          </a:solidFill>
          <a:ln w="10160">
            <a:solidFill>
              <a:srgbClr val="244D73">
                <a:alpha val="90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202168" y="2587752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3C43B"/>
                </a:solidFill>
              </a:rPr>
              <a:t>Livello 3 · Strutturato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8202168" y="2926080"/>
            <a:ext cx="3072384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Obiettivo, tono, destinatari, data, luogo, CTA, massimo 120 parole.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Risultato: quasi utilizzabile.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1234440" y="5047488"/>
            <a:ext cx="9738360" cy="594360"/>
          </a:xfrm>
          <a:prstGeom prst="roundRect">
            <a:avLst>
              <a:gd name="adj" fmla="val 18462"/>
            </a:avLst>
          </a:prstGeom>
          <a:solidFill>
            <a:srgbClr val="E4A83A"/>
          </a:solidFill>
          <a:ln w="12700">
            <a:solidFill>
              <a:srgbClr val="E4A83A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453896" y="5221224"/>
            <a:ext cx="929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33"/>
                </a:solidFill>
              </a:rPr>
              <a:t>Non abbiamo cambiato strumento. Abbiamo cambiato il modo di chiedere.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457200" y="651052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Chiedilo all'IA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9C8D9"/>
                </a:solidFill>
              </a:rPr>
              <a:t>12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457200" y="6382512"/>
            <a:ext cx="11155680" cy="0"/>
          </a:xfrm>
          <a:prstGeom prst="line">
            <a:avLst/>
          </a:prstGeom>
          <a:noFill/>
          <a:ln w="7620">
            <a:solidFill>
              <a:srgbClr val="244059">
                <a:alpha val="7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1"/>
          </a:solidFill>
          <a:ln w="12700">
            <a:solidFill>
              <a:srgbClr val="071A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251960"/>
            <a:ext cx="6309360" cy="2743200"/>
          </a:xfrm>
          <a:prstGeom prst="arc">
            <a:avLst/>
          </a:prstGeom>
          <a:noFill/>
          <a:ln w="406400">
            <a:solidFill>
              <a:srgbClr val="F7F1E6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0"/>
            <a:ext cx="5303520" cy="1828800"/>
          </a:xfrm>
          <a:prstGeom prst="arc">
            <a:avLst/>
          </a:prstGeom>
          <a:noFill/>
          <a:ln w="355600">
            <a:solidFill>
              <a:srgbClr val="218A84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023360"/>
            <a:ext cx="5303520" cy="2926080"/>
          </a:xfrm>
          <a:prstGeom prst="arc">
            <a:avLst/>
          </a:prstGeom>
          <a:noFill/>
          <a:ln w="38100">
            <a:solidFill>
              <a:srgbClr val="E4A83A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206240"/>
            <a:ext cx="4572000" cy="2377440"/>
          </a:xfrm>
          <a:prstGeom prst="arc">
            <a:avLst/>
          </a:prstGeom>
          <a:noFill/>
          <a:ln w="25400">
            <a:solidFill>
              <a:srgbClr val="E4A83A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38360" y="5440680"/>
            <a:ext cx="128016" cy="128016"/>
          </a:xfrm>
          <a:prstGeom prst="ellipse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4389120"/>
            <a:ext cx="91440" cy="91440"/>
          </a:xfrm>
          <a:prstGeom prst="ellipse">
            <a:avLst/>
          </a:prstGeom>
          <a:solidFill>
            <a:srgbClr val="218A84"/>
          </a:solidFill>
          <a:ln w="12700">
            <a:solidFill>
              <a:srgbClr val="218A84"/>
            </a:solidFill>
            <a:prstDash val="solid"/>
          </a:ln>
        </p:spPr>
      </p:sp>
      <p:pic>
        <p:nvPicPr>
          <p:cNvPr id="9" name="Image 0" descr="/mnt/data/logo-bcc-no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1508760" cy="676656"/>
          </a:xfrm>
          <a:prstGeom prst="rect">
            <a:avLst/>
          </a:prstGeom>
        </p:spPr>
      </p:pic>
      <p:pic>
        <p:nvPicPr>
          <p:cNvPr id="10" name="Image 1" descr="/mnt/data/logo_bi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51206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16768" y="30175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evolve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097280" y="1965960"/>
            <a:ext cx="10012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 abbiamo cambiato strumento.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Abbiamo cambiato il modo di chiedere.</a:t>
            </a:r>
            <a:endParaRPr lang="en-US" sz="4800" dirty="0"/>
          </a:p>
        </p:txBody>
      </p:sp>
      <p:sp>
        <p:nvSpPr>
          <p:cNvPr id="13" name="Text 9"/>
          <p:cNvSpPr/>
          <p:nvPr/>
        </p:nvSpPr>
        <p:spPr>
          <a:xfrm>
            <a:off x="1828800" y="3246120"/>
            <a:ext cx="8549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9C8D9"/>
                </a:solidFill>
              </a:rPr>
              <a:t>Transizione ai casi reali.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5376672" y="3931920"/>
            <a:ext cx="1417320" cy="54864"/>
          </a:xfrm>
          <a:prstGeom prst="rect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651052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Chiedilo all'IA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9C8D9"/>
                </a:solidFill>
              </a:rPr>
              <a:t>13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457200" y="6382512"/>
            <a:ext cx="11155680" cy="0"/>
          </a:xfrm>
          <a:prstGeom prst="line">
            <a:avLst/>
          </a:prstGeom>
          <a:noFill/>
          <a:ln w="7620">
            <a:solidFill>
              <a:srgbClr val="244059">
                <a:alpha val="7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1"/>
          </a:solidFill>
          <a:ln w="12700">
            <a:solidFill>
              <a:srgbClr val="071A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251960"/>
            <a:ext cx="6309360" cy="2743200"/>
          </a:xfrm>
          <a:prstGeom prst="arc">
            <a:avLst/>
          </a:prstGeom>
          <a:noFill/>
          <a:ln w="406400">
            <a:solidFill>
              <a:srgbClr val="F7F1E6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0"/>
            <a:ext cx="5303520" cy="1828800"/>
          </a:xfrm>
          <a:prstGeom prst="arc">
            <a:avLst/>
          </a:prstGeom>
          <a:noFill/>
          <a:ln w="355600">
            <a:solidFill>
              <a:srgbClr val="218A84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023360"/>
            <a:ext cx="5303520" cy="2926080"/>
          </a:xfrm>
          <a:prstGeom prst="arc">
            <a:avLst/>
          </a:prstGeom>
          <a:noFill/>
          <a:ln w="38100">
            <a:solidFill>
              <a:srgbClr val="E4A83A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206240"/>
            <a:ext cx="4572000" cy="2377440"/>
          </a:xfrm>
          <a:prstGeom prst="arc">
            <a:avLst/>
          </a:prstGeom>
          <a:noFill/>
          <a:ln w="25400">
            <a:solidFill>
              <a:srgbClr val="E4A83A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38360" y="5440680"/>
            <a:ext cx="128016" cy="128016"/>
          </a:xfrm>
          <a:prstGeom prst="ellipse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4389120"/>
            <a:ext cx="91440" cy="91440"/>
          </a:xfrm>
          <a:prstGeom prst="ellipse">
            <a:avLst/>
          </a:prstGeom>
          <a:solidFill>
            <a:srgbClr val="218A84"/>
          </a:solidFill>
          <a:ln w="12700">
            <a:solidFill>
              <a:srgbClr val="218A84"/>
            </a:solidFill>
            <a:prstDash val="solid"/>
          </a:ln>
        </p:spPr>
      </p:sp>
      <p:pic>
        <p:nvPicPr>
          <p:cNvPr id="9" name="Image 0" descr="/mnt/data/logo-bcc-no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1508760" cy="676656"/>
          </a:xfrm>
          <a:prstGeom prst="rect">
            <a:avLst/>
          </a:prstGeom>
        </p:spPr>
      </p:pic>
      <p:pic>
        <p:nvPicPr>
          <p:cNvPr id="10" name="Image 1" descr="/mnt/data/logo_bi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51206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16768" y="30175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evolve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31520" y="11704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A83A"/>
                </a:solidFill>
              </a:rPr>
              <a:t>BLOCCO 2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31520" y="169164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Dal prompt al risultato</a:t>
            </a:r>
            <a:endParaRPr lang="en-US" sz="4200" dirty="0"/>
          </a:p>
        </p:txBody>
      </p:sp>
      <p:sp>
        <p:nvSpPr>
          <p:cNvPr id="14" name="Text 10"/>
          <p:cNvSpPr/>
          <p:nvPr/>
        </p:nvSpPr>
        <p:spPr>
          <a:xfrm>
            <a:off x="768096" y="2788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C8D9"/>
                </a:solidFill>
              </a:rPr>
              <a:t>Casi reali, effetti wow e uso consapevole.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57200" y="651052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Chiedilo all'IA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9C8D9"/>
                </a:solidFill>
              </a:rPr>
              <a:t>14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457200" y="6382512"/>
            <a:ext cx="11155680" cy="0"/>
          </a:xfrm>
          <a:prstGeom prst="line">
            <a:avLst/>
          </a:prstGeom>
          <a:noFill/>
          <a:ln w="7620">
            <a:solidFill>
              <a:srgbClr val="244059">
                <a:alpha val="7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1"/>
          </a:solidFill>
          <a:ln w="12700">
            <a:solidFill>
              <a:srgbClr val="071A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251960"/>
            <a:ext cx="6309360" cy="2743200"/>
          </a:xfrm>
          <a:prstGeom prst="arc">
            <a:avLst/>
          </a:prstGeom>
          <a:noFill/>
          <a:ln w="406400">
            <a:solidFill>
              <a:srgbClr val="F7F1E6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0"/>
            <a:ext cx="5303520" cy="1828800"/>
          </a:xfrm>
          <a:prstGeom prst="arc">
            <a:avLst/>
          </a:prstGeom>
          <a:noFill/>
          <a:ln w="355600">
            <a:solidFill>
              <a:srgbClr val="218A84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023360"/>
            <a:ext cx="5303520" cy="2926080"/>
          </a:xfrm>
          <a:prstGeom prst="arc">
            <a:avLst/>
          </a:prstGeom>
          <a:noFill/>
          <a:ln w="38100">
            <a:solidFill>
              <a:srgbClr val="E4A83A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206240"/>
            <a:ext cx="4572000" cy="2377440"/>
          </a:xfrm>
          <a:prstGeom prst="arc">
            <a:avLst/>
          </a:prstGeom>
          <a:noFill/>
          <a:ln w="25400">
            <a:solidFill>
              <a:srgbClr val="E4A83A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38360" y="5440680"/>
            <a:ext cx="128016" cy="128016"/>
          </a:xfrm>
          <a:prstGeom prst="ellipse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4389120"/>
            <a:ext cx="91440" cy="91440"/>
          </a:xfrm>
          <a:prstGeom prst="ellipse">
            <a:avLst/>
          </a:prstGeom>
          <a:solidFill>
            <a:srgbClr val="218A84"/>
          </a:solidFill>
          <a:ln w="12700">
            <a:solidFill>
              <a:srgbClr val="218A84"/>
            </a:solidFill>
            <a:prstDash val="solid"/>
          </a:ln>
        </p:spPr>
      </p:sp>
      <p:pic>
        <p:nvPicPr>
          <p:cNvPr id="9" name="Image 0" descr="/mnt/data/logo-bcc-no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1508760" cy="676656"/>
          </a:xfrm>
          <a:prstGeom prst="rect">
            <a:avLst/>
          </a:prstGeom>
        </p:spPr>
      </p:pic>
      <p:pic>
        <p:nvPicPr>
          <p:cNvPr id="10" name="Image 1" descr="/mnt/data/logo_bi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51206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16768" y="30175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evolve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85800" y="10241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Case-study 1 · Il bisogno grezzo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713232" y="164592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9C8D9"/>
                </a:solidFill>
              </a:rPr>
              <a:t>Da un'intenzione commerciale a una base operativa.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13232" y="2121408"/>
            <a:ext cx="713232" cy="50292"/>
          </a:xfrm>
          <a:prstGeom prst="rect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325880" y="2423160"/>
            <a:ext cx="9509760" cy="1188720"/>
          </a:xfrm>
          <a:prstGeom prst="roundRect">
            <a:avLst>
              <a:gd name="adj" fmla="val 7692"/>
            </a:avLst>
          </a:prstGeom>
          <a:solidFill>
            <a:srgbClr val="102B4E"/>
          </a:solidFill>
          <a:ln w="16510">
            <a:solidFill>
              <a:srgbClr val="E4A83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691640" y="274320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“Voglio trovare aziende a Palestrina a cui proporre servizi di stampa 3D.”</a:t>
            </a:r>
            <a:endParaRPr lang="en-US" sz="2300" dirty="0"/>
          </a:p>
        </p:txBody>
      </p:sp>
      <p:sp>
        <p:nvSpPr>
          <p:cNvPr id="17" name="Shape 13"/>
          <p:cNvSpPr/>
          <p:nvPr/>
        </p:nvSpPr>
        <p:spPr>
          <a:xfrm>
            <a:off x="2011680" y="4306824"/>
            <a:ext cx="100584" cy="100584"/>
          </a:xfrm>
          <a:prstGeom prst="ellipse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240280" y="4251960"/>
            <a:ext cx="7818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B9C8D9"/>
                </a:solidFill>
              </a:rPr>
              <a:t>È una buona partenza, ma lascia troppe decisioni allo strumento.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2011680" y="4745736"/>
            <a:ext cx="100584" cy="100584"/>
          </a:xfrm>
          <a:prstGeom prst="ellipse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240280" y="4690872"/>
            <a:ext cx="7818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B9C8D9"/>
                </a:solidFill>
              </a:rPr>
              <a:t>Serve trasformare il bisogno in un processo guidato.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457200" y="651052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Chiedilo all'IA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9C8D9"/>
                </a:solidFill>
              </a:rPr>
              <a:t>15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457200" y="6382512"/>
            <a:ext cx="11155680" cy="0"/>
          </a:xfrm>
          <a:prstGeom prst="line">
            <a:avLst/>
          </a:prstGeom>
          <a:noFill/>
          <a:ln w="7620">
            <a:solidFill>
              <a:srgbClr val="244059">
                <a:alpha val="7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1"/>
          </a:solidFill>
          <a:ln w="12700">
            <a:solidFill>
              <a:srgbClr val="071A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251960"/>
            <a:ext cx="6309360" cy="2743200"/>
          </a:xfrm>
          <a:prstGeom prst="arc">
            <a:avLst/>
          </a:prstGeom>
          <a:noFill/>
          <a:ln w="406400">
            <a:solidFill>
              <a:srgbClr val="F7F1E6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0"/>
            <a:ext cx="5303520" cy="1828800"/>
          </a:xfrm>
          <a:prstGeom prst="arc">
            <a:avLst/>
          </a:prstGeom>
          <a:noFill/>
          <a:ln w="355600">
            <a:solidFill>
              <a:srgbClr val="218A84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023360"/>
            <a:ext cx="5303520" cy="2926080"/>
          </a:xfrm>
          <a:prstGeom prst="arc">
            <a:avLst/>
          </a:prstGeom>
          <a:noFill/>
          <a:ln w="38100">
            <a:solidFill>
              <a:srgbClr val="E4A83A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206240"/>
            <a:ext cx="4572000" cy="2377440"/>
          </a:xfrm>
          <a:prstGeom prst="arc">
            <a:avLst/>
          </a:prstGeom>
          <a:noFill/>
          <a:ln w="25400">
            <a:solidFill>
              <a:srgbClr val="E4A83A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38360" y="5440680"/>
            <a:ext cx="128016" cy="128016"/>
          </a:xfrm>
          <a:prstGeom prst="ellipse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4389120"/>
            <a:ext cx="91440" cy="91440"/>
          </a:xfrm>
          <a:prstGeom prst="ellipse">
            <a:avLst/>
          </a:prstGeom>
          <a:solidFill>
            <a:srgbClr val="218A84"/>
          </a:solidFill>
          <a:ln w="12700">
            <a:solidFill>
              <a:srgbClr val="218A84"/>
            </a:solidFill>
            <a:prstDash val="solid"/>
          </a:ln>
        </p:spPr>
      </p:sp>
      <p:pic>
        <p:nvPicPr>
          <p:cNvPr id="9" name="Image 0" descr="/mnt/data/logo-bcc-no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1508760" cy="676656"/>
          </a:xfrm>
          <a:prstGeom prst="rect">
            <a:avLst/>
          </a:prstGeom>
        </p:spPr>
      </p:pic>
      <p:pic>
        <p:nvPicPr>
          <p:cNvPr id="10" name="Image 1" descr="/mnt/data/logo_bi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51206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16768" y="30175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evolve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85800" y="10241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Perché non basta?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713232" y="164592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9C8D9"/>
                </a:solidFill>
              </a:rPr>
              <a:t>Una richiesta generica produce una lista generica.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13232" y="2121408"/>
            <a:ext cx="713232" cy="50292"/>
          </a:xfrm>
          <a:prstGeom prst="rect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468880"/>
            <a:ext cx="3200400" cy="960120"/>
          </a:xfrm>
          <a:prstGeom prst="roundRect">
            <a:avLst>
              <a:gd name="adj" fmla="val 9524"/>
            </a:avLst>
          </a:prstGeom>
          <a:solidFill>
            <a:srgbClr val="102B4E"/>
          </a:solidFill>
          <a:ln w="10160">
            <a:solidFill>
              <a:srgbClr val="244D73">
                <a:alpha val="9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32688" y="2633472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A83A"/>
                </a:solidFill>
              </a:rPr>
              <a:t>Territorio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932688" y="2971800"/>
            <a:ext cx="279806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Dove cerchiamo?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526280" y="2468880"/>
            <a:ext cx="3200400" cy="960120"/>
          </a:xfrm>
          <a:prstGeom prst="roundRect">
            <a:avLst>
              <a:gd name="adj" fmla="val 9524"/>
            </a:avLst>
          </a:prstGeom>
          <a:solidFill>
            <a:srgbClr val="102B4E"/>
          </a:solidFill>
          <a:ln w="10160">
            <a:solidFill>
              <a:srgbClr val="244D73">
                <a:alpha val="9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727448" y="2633472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A83A"/>
                </a:solidFill>
              </a:rPr>
              <a:t>Criteri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727448" y="2971800"/>
            <a:ext cx="279806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Che tipo di aziende?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321040" y="2468880"/>
            <a:ext cx="3200400" cy="960120"/>
          </a:xfrm>
          <a:prstGeom prst="roundRect">
            <a:avLst>
              <a:gd name="adj" fmla="val 9524"/>
            </a:avLst>
          </a:prstGeom>
          <a:solidFill>
            <a:srgbClr val="102B4E"/>
          </a:solidFill>
          <a:ln w="10160">
            <a:solidFill>
              <a:srgbClr val="244D73">
                <a:alpha val="90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522208" y="2633472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A83A"/>
                </a:solidFill>
              </a:rPr>
              <a:t>Esclusioni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8522208" y="2971800"/>
            <a:ext cx="279806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Cosa evitare?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731520" y="3886200"/>
            <a:ext cx="3200400" cy="960120"/>
          </a:xfrm>
          <a:prstGeom prst="roundRect">
            <a:avLst>
              <a:gd name="adj" fmla="val 9524"/>
            </a:avLst>
          </a:prstGeom>
          <a:solidFill>
            <a:srgbClr val="102B4E"/>
          </a:solidFill>
          <a:ln w="10160">
            <a:solidFill>
              <a:srgbClr val="244D73">
                <a:alpha val="9000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932688" y="4050792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A83A"/>
                </a:solidFill>
              </a:rPr>
              <a:t>Output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932688" y="4389120"/>
            <a:ext cx="279806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Che tabella serve?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4526280" y="3886200"/>
            <a:ext cx="3200400" cy="960120"/>
          </a:xfrm>
          <a:prstGeom prst="roundRect">
            <a:avLst>
              <a:gd name="adj" fmla="val 9524"/>
            </a:avLst>
          </a:prstGeom>
          <a:solidFill>
            <a:srgbClr val="102B4E"/>
          </a:solidFill>
          <a:ln w="10160">
            <a:solidFill>
              <a:srgbClr val="244D73">
                <a:alpha val="90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727448" y="4050792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A83A"/>
                </a:solidFill>
              </a:rPr>
              <a:t>Verifica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4727448" y="4389120"/>
            <a:ext cx="279806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Cosa controllare?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457200" y="651052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Chiedilo all'IA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9C8D9"/>
                </a:solidFill>
              </a:rPr>
              <a:t>16</a:t>
            </a:r>
            <a:endParaRPr lang="en-US" sz="750" dirty="0"/>
          </a:p>
        </p:txBody>
      </p:sp>
      <p:sp>
        <p:nvSpPr>
          <p:cNvPr id="32" name="Shape 28"/>
          <p:cNvSpPr/>
          <p:nvPr/>
        </p:nvSpPr>
        <p:spPr>
          <a:xfrm>
            <a:off x="457200" y="6382512"/>
            <a:ext cx="11155680" cy="0"/>
          </a:xfrm>
          <a:prstGeom prst="line">
            <a:avLst/>
          </a:prstGeom>
          <a:noFill/>
          <a:ln w="7620">
            <a:solidFill>
              <a:srgbClr val="244059">
                <a:alpha val="7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1"/>
          </a:solidFill>
          <a:ln w="12700">
            <a:solidFill>
              <a:srgbClr val="071A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251960"/>
            <a:ext cx="6309360" cy="2743200"/>
          </a:xfrm>
          <a:prstGeom prst="arc">
            <a:avLst/>
          </a:prstGeom>
          <a:noFill/>
          <a:ln w="406400">
            <a:solidFill>
              <a:srgbClr val="F7F1E6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0"/>
            <a:ext cx="5303520" cy="1828800"/>
          </a:xfrm>
          <a:prstGeom prst="arc">
            <a:avLst/>
          </a:prstGeom>
          <a:noFill/>
          <a:ln w="355600">
            <a:solidFill>
              <a:srgbClr val="218A84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023360"/>
            <a:ext cx="5303520" cy="2926080"/>
          </a:xfrm>
          <a:prstGeom prst="arc">
            <a:avLst/>
          </a:prstGeom>
          <a:noFill/>
          <a:ln w="38100">
            <a:solidFill>
              <a:srgbClr val="E4A83A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206240"/>
            <a:ext cx="4572000" cy="2377440"/>
          </a:xfrm>
          <a:prstGeom prst="arc">
            <a:avLst/>
          </a:prstGeom>
          <a:noFill/>
          <a:ln w="25400">
            <a:solidFill>
              <a:srgbClr val="E4A83A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38360" y="5440680"/>
            <a:ext cx="128016" cy="128016"/>
          </a:xfrm>
          <a:prstGeom prst="ellipse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4389120"/>
            <a:ext cx="91440" cy="91440"/>
          </a:xfrm>
          <a:prstGeom prst="ellipse">
            <a:avLst/>
          </a:prstGeom>
          <a:solidFill>
            <a:srgbClr val="218A84"/>
          </a:solidFill>
          <a:ln w="12700">
            <a:solidFill>
              <a:srgbClr val="218A84"/>
            </a:solidFill>
            <a:prstDash val="solid"/>
          </a:ln>
        </p:spPr>
      </p:sp>
      <p:pic>
        <p:nvPicPr>
          <p:cNvPr id="9" name="Image 0" descr="/mnt/data/logo-bcc-no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1508760" cy="676656"/>
          </a:xfrm>
          <a:prstGeom prst="rect">
            <a:avLst/>
          </a:prstGeom>
        </p:spPr>
      </p:pic>
      <p:pic>
        <p:nvPicPr>
          <p:cNvPr id="10" name="Image 1" descr="/mnt/data/logo_bi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51206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16768" y="30175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evolve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85800" y="10241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Il prompt migliorato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713232" y="164592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9C8D9"/>
                </a:solidFill>
              </a:rPr>
              <a:t>Lo stesso bisogno, ma trasformato in istruzioni.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13232" y="2121408"/>
            <a:ext cx="713232" cy="50292"/>
          </a:xfrm>
          <a:prstGeom prst="rect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" y="2514600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102B4E"/>
          </a:solidFill>
          <a:ln w="10160">
            <a:solidFill>
              <a:srgbClr val="244D73">
                <a:alpha val="9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86968" y="2679192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A83A"/>
                </a:solidFill>
              </a:rPr>
              <a:t>Obiettivo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886968" y="3017520"/>
            <a:ext cx="302666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Cerca aziende in fonti pubbliche online nel territorio di Palestrina.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480560" y="2514600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102B4E"/>
          </a:solidFill>
          <a:ln w="10160">
            <a:solidFill>
              <a:srgbClr val="244D73">
                <a:alpha val="9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681728" y="2679192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A83A"/>
                </a:solidFill>
              </a:rPr>
              <a:t>Includi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681728" y="3017520"/>
            <a:ext cx="302666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Produzione, fabbricazione, installazione, manutenzione, commercio tecnico B2B.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275320" y="2514600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102B4E"/>
          </a:solidFill>
          <a:ln w="10160">
            <a:solidFill>
              <a:srgbClr val="244D73">
                <a:alpha val="90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476488" y="2679192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A83A"/>
                </a:solidFill>
              </a:rPr>
              <a:t>Escludi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8476488" y="3017520"/>
            <a:ext cx="302666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Edilizia generica, agricoltura, ristorazione, immobiliare e attività non pertinenti.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2651760" y="4160520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102B4E"/>
          </a:solidFill>
          <a:ln w="10160">
            <a:solidFill>
              <a:srgbClr val="244D73">
                <a:alpha val="9000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852928" y="4325112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A83A"/>
                </a:solidFill>
              </a:rPr>
              <a:t>Formato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2852928" y="4663440"/>
            <a:ext cx="302666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Tabella con nome, attività, categoria, priorità, punteggio lead, proposta, fonte, verifica.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537960" y="4160520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102B4E"/>
          </a:solidFill>
          <a:ln w="10160">
            <a:solidFill>
              <a:srgbClr val="244D73">
                <a:alpha val="90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739128" y="4325112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3C43B"/>
                </a:solidFill>
              </a:rPr>
              <a:t>Verifica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6739128" y="4663440"/>
            <a:ext cx="302666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Segnala dove i dati vanno controllati prima dell'uso commerciale.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457200" y="651052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Chiedilo all'IA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9C8D9"/>
                </a:solidFill>
              </a:rPr>
              <a:t>17</a:t>
            </a:r>
            <a:endParaRPr lang="en-US" sz="750" dirty="0"/>
          </a:p>
        </p:txBody>
      </p:sp>
      <p:sp>
        <p:nvSpPr>
          <p:cNvPr id="32" name="Shape 28"/>
          <p:cNvSpPr/>
          <p:nvPr/>
        </p:nvSpPr>
        <p:spPr>
          <a:xfrm>
            <a:off x="457200" y="6382512"/>
            <a:ext cx="11155680" cy="0"/>
          </a:xfrm>
          <a:prstGeom prst="line">
            <a:avLst/>
          </a:prstGeom>
          <a:noFill/>
          <a:ln w="7620">
            <a:solidFill>
              <a:srgbClr val="244059">
                <a:alpha val="7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1"/>
          </a:solidFill>
          <a:ln w="12700">
            <a:solidFill>
              <a:srgbClr val="071A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251960"/>
            <a:ext cx="6309360" cy="2743200"/>
          </a:xfrm>
          <a:prstGeom prst="arc">
            <a:avLst/>
          </a:prstGeom>
          <a:noFill/>
          <a:ln w="406400">
            <a:solidFill>
              <a:srgbClr val="F7F1E6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0"/>
            <a:ext cx="5303520" cy="1828800"/>
          </a:xfrm>
          <a:prstGeom prst="arc">
            <a:avLst/>
          </a:prstGeom>
          <a:noFill/>
          <a:ln w="355600">
            <a:solidFill>
              <a:srgbClr val="218A84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023360"/>
            <a:ext cx="5303520" cy="2926080"/>
          </a:xfrm>
          <a:prstGeom prst="arc">
            <a:avLst/>
          </a:prstGeom>
          <a:noFill/>
          <a:ln w="38100">
            <a:solidFill>
              <a:srgbClr val="E4A83A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206240"/>
            <a:ext cx="4572000" cy="2377440"/>
          </a:xfrm>
          <a:prstGeom prst="arc">
            <a:avLst/>
          </a:prstGeom>
          <a:noFill/>
          <a:ln w="25400">
            <a:solidFill>
              <a:srgbClr val="E4A83A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38360" y="5440680"/>
            <a:ext cx="128016" cy="128016"/>
          </a:xfrm>
          <a:prstGeom prst="ellipse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4389120"/>
            <a:ext cx="91440" cy="91440"/>
          </a:xfrm>
          <a:prstGeom prst="ellipse">
            <a:avLst/>
          </a:prstGeom>
          <a:solidFill>
            <a:srgbClr val="218A84"/>
          </a:solidFill>
          <a:ln w="12700">
            <a:solidFill>
              <a:srgbClr val="218A84"/>
            </a:solidFill>
            <a:prstDash val="solid"/>
          </a:ln>
        </p:spPr>
      </p:sp>
      <p:pic>
        <p:nvPicPr>
          <p:cNvPr id="9" name="Image 0" descr="/mnt/data/logo-bcc-no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1508760" cy="676656"/>
          </a:xfrm>
          <a:prstGeom prst="rect">
            <a:avLst/>
          </a:prstGeom>
        </p:spPr>
      </p:pic>
      <p:pic>
        <p:nvPicPr>
          <p:cNvPr id="10" name="Image 1" descr="/mnt/data/logo_bi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51206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16768" y="30175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evolve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85800" y="10241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Fonti pubbliche online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713232" y="164592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9C8D9"/>
                </a:solidFill>
              </a:rPr>
              <a:t>Il perimetro corretto del caso.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13232" y="2121408"/>
            <a:ext cx="713232" cy="50292"/>
          </a:xfrm>
          <a:prstGeom prst="rect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2743200"/>
            <a:ext cx="22402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E6ECF2">
                <a:alpha val="9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15568" y="2907792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18A84"/>
                </a:solidFill>
              </a:rPr>
              <a:t>Fonti consultabili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115568" y="3246120"/>
            <a:ext cx="18379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B6E"/>
                </a:solidFill>
              </a:rPr>
              <a:t>informazioni pubblicamente disponibili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3273552" y="3063240"/>
            <a:ext cx="274320" cy="274320"/>
          </a:xfrm>
          <a:prstGeom prst="chevron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703320" y="2743200"/>
            <a:ext cx="22402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E6ECF2">
                <a:alpha val="90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904488" y="2907792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18A84"/>
                </a:solidFill>
              </a:rPr>
              <a:t>Raccolta e organizzazione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3904488" y="3246120"/>
            <a:ext cx="18379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B6E"/>
                </a:solidFill>
              </a:rPr>
              <a:t>l'IA aiuta a ordinare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062472" y="3063240"/>
            <a:ext cx="274320" cy="274320"/>
          </a:xfrm>
          <a:prstGeom prst="chevron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492240" y="2743200"/>
            <a:ext cx="22402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E6ECF2">
                <a:alpha val="90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693408" y="2907792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18A84"/>
                </a:solidFill>
              </a:rPr>
              <a:t>Tabella operativa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693408" y="3246120"/>
            <a:ext cx="18379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B6E"/>
                </a:solidFill>
              </a:rPr>
              <a:t>lead, score, motivi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8851392" y="3063240"/>
            <a:ext cx="274320" cy="274320"/>
          </a:xfrm>
          <a:prstGeom prst="chevron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9281160" y="2743200"/>
            <a:ext cx="22402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E6ECF2">
                <a:alpha val="90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9482328" y="2907792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3C43B"/>
                </a:solidFill>
              </a:rPr>
              <a:t>Verifica umana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9482328" y="3246120"/>
            <a:ext cx="18379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B6E"/>
                </a:solidFill>
              </a:rPr>
              <a:t>controllo prima di contattare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1874520" y="4754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E4A83A"/>
          </a:solidFill>
          <a:ln w="12700">
            <a:solidFill>
              <a:srgbClr val="E4A83A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093976" y="4928616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033"/>
                </a:solidFill>
              </a:rPr>
              <a:t>Questo file non è la verità: è una base di lavoro.</a:t>
            </a:r>
            <a:endParaRPr lang="en-US" sz="2000" dirty="0"/>
          </a:p>
        </p:txBody>
      </p:sp>
      <p:sp>
        <p:nvSpPr>
          <p:cNvPr id="32" name="Text 28"/>
          <p:cNvSpPr/>
          <p:nvPr/>
        </p:nvSpPr>
        <p:spPr>
          <a:xfrm>
            <a:off x="457200" y="651052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Chiedilo all'IA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9C8D9"/>
                </a:solidFill>
              </a:rPr>
              <a:t>18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457200" y="6382512"/>
            <a:ext cx="11155680" cy="0"/>
          </a:xfrm>
          <a:prstGeom prst="line">
            <a:avLst/>
          </a:prstGeom>
          <a:noFill/>
          <a:ln w="7620">
            <a:solidFill>
              <a:srgbClr val="244059">
                <a:alpha val="7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1"/>
          </a:solidFill>
          <a:ln w="12700">
            <a:solidFill>
              <a:srgbClr val="071A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251960"/>
            <a:ext cx="6309360" cy="2743200"/>
          </a:xfrm>
          <a:prstGeom prst="arc">
            <a:avLst/>
          </a:prstGeom>
          <a:noFill/>
          <a:ln w="406400">
            <a:solidFill>
              <a:srgbClr val="F7F1E6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0"/>
            <a:ext cx="5303520" cy="1828800"/>
          </a:xfrm>
          <a:prstGeom prst="arc">
            <a:avLst/>
          </a:prstGeom>
          <a:noFill/>
          <a:ln w="355600">
            <a:solidFill>
              <a:srgbClr val="218A84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023360"/>
            <a:ext cx="5303520" cy="2926080"/>
          </a:xfrm>
          <a:prstGeom prst="arc">
            <a:avLst/>
          </a:prstGeom>
          <a:noFill/>
          <a:ln w="38100">
            <a:solidFill>
              <a:srgbClr val="E4A83A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206240"/>
            <a:ext cx="4572000" cy="2377440"/>
          </a:xfrm>
          <a:prstGeom prst="arc">
            <a:avLst/>
          </a:prstGeom>
          <a:noFill/>
          <a:ln w="25400">
            <a:solidFill>
              <a:srgbClr val="E4A83A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38360" y="5440680"/>
            <a:ext cx="128016" cy="128016"/>
          </a:xfrm>
          <a:prstGeom prst="ellipse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4389120"/>
            <a:ext cx="91440" cy="91440"/>
          </a:xfrm>
          <a:prstGeom prst="ellipse">
            <a:avLst/>
          </a:prstGeom>
          <a:solidFill>
            <a:srgbClr val="218A84"/>
          </a:solidFill>
          <a:ln w="12700">
            <a:solidFill>
              <a:srgbClr val="218A84"/>
            </a:solidFill>
            <a:prstDash val="solid"/>
          </a:ln>
        </p:spPr>
      </p:sp>
      <p:pic>
        <p:nvPicPr>
          <p:cNvPr id="9" name="Image 0" descr="/mnt/data/logo-bcc-no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1508760" cy="676656"/>
          </a:xfrm>
          <a:prstGeom prst="rect">
            <a:avLst/>
          </a:prstGeom>
        </p:spPr>
      </p:pic>
      <p:pic>
        <p:nvPicPr>
          <p:cNvPr id="10" name="Image 1" descr="/mnt/data/logo_bi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51206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16768" y="30175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evolve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85800" y="10241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Dalla lista alla tabella operativa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713232" y="164592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9C8D9"/>
                </a:solidFill>
              </a:rPr>
              <a:t>Effetto wow 2: l'IA non elenca soltanto, struttura.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13232" y="2121408"/>
            <a:ext cx="713232" cy="50292"/>
          </a:xfrm>
          <a:prstGeom prst="rect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2423160"/>
            <a:ext cx="104241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014984" y="2587752"/>
            <a:ext cx="1325880" cy="384048"/>
          </a:xfrm>
          <a:prstGeom prst="rect">
            <a:avLst/>
          </a:prstGeom>
          <a:solidFill>
            <a:srgbClr val="09233F"/>
          </a:solidFill>
          <a:ln w="381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051560" y="2706624"/>
            <a:ext cx="1252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Azienda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2340864" y="2587752"/>
            <a:ext cx="1645920" cy="384048"/>
          </a:xfrm>
          <a:prstGeom prst="rect">
            <a:avLst/>
          </a:prstGeom>
          <a:solidFill>
            <a:srgbClr val="09233F"/>
          </a:solidFill>
          <a:ln w="381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377440" y="2706624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Attività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986784" y="2587752"/>
            <a:ext cx="1005840" cy="384048"/>
          </a:xfrm>
          <a:prstGeom prst="rect">
            <a:avLst/>
          </a:prstGeom>
          <a:solidFill>
            <a:srgbClr val="218A84"/>
          </a:solidFill>
          <a:ln w="381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023360" y="2706624"/>
            <a:ext cx="9326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Priorità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4992624" y="2587752"/>
            <a:ext cx="777240" cy="384048"/>
          </a:xfrm>
          <a:prstGeom prst="rect">
            <a:avLst/>
          </a:prstGeom>
          <a:solidFill>
            <a:srgbClr val="218A84"/>
          </a:solidFill>
          <a:ln w="381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029200" y="2706624"/>
            <a:ext cx="7040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Score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5769864" y="2587752"/>
            <a:ext cx="2743200" cy="384048"/>
          </a:xfrm>
          <a:prstGeom prst="rect">
            <a:avLst/>
          </a:prstGeom>
          <a:solidFill>
            <a:srgbClr val="218A84"/>
          </a:solidFill>
          <a:ln w="381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806440" y="2706624"/>
            <a:ext cx="2670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Motivo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8513064" y="2587752"/>
            <a:ext cx="1463040" cy="384048"/>
          </a:xfrm>
          <a:prstGeom prst="rect">
            <a:avLst/>
          </a:prstGeom>
          <a:solidFill>
            <a:srgbClr val="218A84"/>
          </a:solidFill>
          <a:ln w="381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549640" y="2706624"/>
            <a:ext cx="1389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Verifica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1014984" y="3081528"/>
            <a:ext cx="1325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6ECF2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051560" y="3227832"/>
            <a:ext cx="1252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02033"/>
                </a:solidFill>
              </a:rPr>
              <a:t>Alpha Tech</a:t>
            </a:r>
            <a:endParaRPr lang="en-US" sz="820" dirty="0"/>
          </a:p>
        </p:txBody>
      </p:sp>
      <p:sp>
        <p:nvSpPr>
          <p:cNvPr id="30" name="Shape 26"/>
          <p:cNvSpPr/>
          <p:nvPr/>
        </p:nvSpPr>
        <p:spPr>
          <a:xfrm>
            <a:off x="2340864" y="3081528"/>
            <a:ext cx="16459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6ECF2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377440" y="3227832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02033"/>
                </a:solidFill>
              </a:rPr>
              <a:t>Lavorazioni</a:t>
            </a:r>
            <a:endParaRPr lang="en-US" sz="820" dirty="0"/>
          </a:p>
        </p:txBody>
      </p:sp>
      <p:sp>
        <p:nvSpPr>
          <p:cNvPr id="32" name="Shape 28"/>
          <p:cNvSpPr/>
          <p:nvPr/>
        </p:nvSpPr>
        <p:spPr>
          <a:xfrm>
            <a:off x="3986784" y="3081528"/>
            <a:ext cx="10058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6ECF2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023360" y="3227832"/>
            <a:ext cx="9326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02033"/>
                </a:solidFill>
              </a:rPr>
              <a:t>Alta</a:t>
            </a:r>
            <a:endParaRPr lang="en-US" sz="820" dirty="0"/>
          </a:p>
        </p:txBody>
      </p:sp>
      <p:sp>
        <p:nvSpPr>
          <p:cNvPr id="34" name="Shape 30"/>
          <p:cNvSpPr/>
          <p:nvPr/>
        </p:nvSpPr>
        <p:spPr>
          <a:xfrm>
            <a:off x="4992624" y="3081528"/>
            <a:ext cx="7772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6ECF2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029200" y="3227832"/>
            <a:ext cx="7040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02033"/>
                </a:solidFill>
              </a:rPr>
              <a:t>87</a:t>
            </a:r>
            <a:endParaRPr lang="en-US" sz="820" dirty="0"/>
          </a:p>
        </p:txBody>
      </p:sp>
      <p:sp>
        <p:nvSpPr>
          <p:cNvPr id="36" name="Shape 32"/>
          <p:cNvSpPr/>
          <p:nvPr/>
        </p:nvSpPr>
        <p:spPr>
          <a:xfrm>
            <a:off x="5769864" y="3081528"/>
            <a:ext cx="27432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6ECF2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806440" y="3227832"/>
            <a:ext cx="2670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02033"/>
                </a:solidFill>
              </a:rPr>
              <a:t>Uso prototipi</a:t>
            </a:r>
            <a:endParaRPr lang="en-US" sz="820" dirty="0"/>
          </a:p>
        </p:txBody>
      </p:sp>
      <p:sp>
        <p:nvSpPr>
          <p:cNvPr id="38" name="Shape 34"/>
          <p:cNvSpPr/>
          <p:nvPr/>
        </p:nvSpPr>
        <p:spPr>
          <a:xfrm>
            <a:off x="8513064" y="3081528"/>
            <a:ext cx="14630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6ECF2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549640" y="3227832"/>
            <a:ext cx="1389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02033"/>
                </a:solidFill>
              </a:rPr>
              <a:t>Da controllare</a:t>
            </a:r>
            <a:endParaRPr lang="en-US" sz="820" dirty="0"/>
          </a:p>
        </p:txBody>
      </p:sp>
      <p:sp>
        <p:nvSpPr>
          <p:cNvPr id="40" name="Shape 36"/>
          <p:cNvSpPr/>
          <p:nvPr/>
        </p:nvSpPr>
        <p:spPr>
          <a:xfrm>
            <a:off x="1014984" y="3584448"/>
            <a:ext cx="1325880" cy="457200"/>
          </a:xfrm>
          <a:prstGeom prst="rect">
            <a:avLst/>
          </a:prstGeom>
          <a:solidFill>
            <a:srgbClr val="F4F7FA"/>
          </a:solidFill>
          <a:ln w="3810">
            <a:solidFill>
              <a:srgbClr val="E6ECF2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1051560" y="3730752"/>
            <a:ext cx="1252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02033"/>
                </a:solidFill>
              </a:rPr>
              <a:t>Beta Impianti</a:t>
            </a:r>
            <a:endParaRPr lang="en-US" sz="820" dirty="0"/>
          </a:p>
        </p:txBody>
      </p:sp>
      <p:sp>
        <p:nvSpPr>
          <p:cNvPr id="42" name="Shape 38"/>
          <p:cNvSpPr/>
          <p:nvPr/>
        </p:nvSpPr>
        <p:spPr>
          <a:xfrm>
            <a:off x="2340864" y="3584448"/>
            <a:ext cx="1645920" cy="457200"/>
          </a:xfrm>
          <a:prstGeom prst="rect">
            <a:avLst/>
          </a:prstGeom>
          <a:solidFill>
            <a:srgbClr val="F4F7FA"/>
          </a:solidFill>
          <a:ln w="3810">
            <a:solidFill>
              <a:srgbClr val="E6ECF2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2377440" y="3730752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02033"/>
                </a:solidFill>
              </a:rPr>
              <a:t>Installazione</a:t>
            </a:r>
            <a:endParaRPr lang="en-US" sz="820" dirty="0"/>
          </a:p>
        </p:txBody>
      </p:sp>
      <p:sp>
        <p:nvSpPr>
          <p:cNvPr id="44" name="Shape 40"/>
          <p:cNvSpPr/>
          <p:nvPr/>
        </p:nvSpPr>
        <p:spPr>
          <a:xfrm>
            <a:off x="3986784" y="3584448"/>
            <a:ext cx="1005840" cy="457200"/>
          </a:xfrm>
          <a:prstGeom prst="rect">
            <a:avLst/>
          </a:prstGeom>
          <a:solidFill>
            <a:srgbClr val="F4F7FA"/>
          </a:solidFill>
          <a:ln w="3810">
            <a:solidFill>
              <a:srgbClr val="E6ECF2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023360" y="3730752"/>
            <a:ext cx="9326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02033"/>
                </a:solidFill>
              </a:rPr>
              <a:t>Media</a:t>
            </a:r>
            <a:endParaRPr lang="en-US" sz="820" dirty="0"/>
          </a:p>
        </p:txBody>
      </p:sp>
      <p:sp>
        <p:nvSpPr>
          <p:cNvPr id="46" name="Shape 42"/>
          <p:cNvSpPr/>
          <p:nvPr/>
        </p:nvSpPr>
        <p:spPr>
          <a:xfrm>
            <a:off x="4992624" y="3584448"/>
            <a:ext cx="777240" cy="457200"/>
          </a:xfrm>
          <a:prstGeom prst="rect">
            <a:avLst/>
          </a:prstGeom>
          <a:solidFill>
            <a:srgbClr val="F4F7FA"/>
          </a:solidFill>
          <a:ln w="3810">
            <a:solidFill>
              <a:srgbClr val="E6ECF2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029200" y="3730752"/>
            <a:ext cx="7040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02033"/>
                </a:solidFill>
              </a:rPr>
              <a:t>72</a:t>
            </a:r>
            <a:endParaRPr lang="en-US" sz="820" dirty="0"/>
          </a:p>
        </p:txBody>
      </p:sp>
      <p:sp>
        <p:nvSpPr>
          <p:cNvPr id="48" name="Shape 44"/>
          <p:cNvSpPr/>
          <p:nvPr/>
        </p:nvSpPr>
        <p:spPr>
          <a:xfrm>
            <a:off x="5769864" y="3584448"/>
            <a:ext cx="2743200" cy="457200"/>
          </a:xfrm>
          <a:prstGeom prst="rect">
            <a:avLst/>
          </a:prstGeom>
          <a:solidFill>
            <a:srgbClr val="F4F7FA"/>
          </a:solidFill>
          <a:ln w="3810">
            <a:solidFill>
              <a:srgbClr val="E6ECF2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5806440" y="3730752"/>
            <a:ext cx="2670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02033"/>
                </a:solidFill>
              </a:rPr>
              <a:t>Componenti su misura</a:t>
            </a:r>
            <a:endParaRPr lang="en-US" sz="820" dirty="0"/>
          </a:p>
        </p:txBody>
      </p:sp>
      <p:sp>
        <p:nvSpPr>
          <p:cNvPr id="50" name="Shape 46"/>
          <p:cNvSpPr/>
          <p:nvPr/>
        </p:nvSpPr>
        <p:spPr>
          <a:xfrm>
            <a:off x="8513064" y="3584448"/>
            <a:ext cx="1463040" cy="457200"/>
          </a:xfrm>
          <a:prstGeom prst="rect">
            <a:avLst/>
          </a:prstGeom>
          <a:solidFill>
            <a:srgbClr val="F4F7FA"/>
          </a:solidFill>
          <a:ln w="3810">
            <a:solidFill>
              <a:srgbClr val="E6ECF2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8549640" y="3730752"/>
            <a:ext cx="1389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02033"/>
                </a:solidFill>
              </a:rPr>
              <a:t>Da controllare</a:t>
            </a:r>
            <a:endParaRPr lang="en-US" sz="820" dirty="0"/>
          </a:p>
        </p:txBody>
      </p:sp>
      <p:sp>
        <p:nvSpPr>
          <p:cNvPr id="52" name="Shape 48"/>
          <p:cNvSpPr/>
          <p:nvPr/>
        </p:nvSpPr>
        <p:spPr>
          <a:xfrm>
            <a:off x="1014984" y="4087368"/>
            <a:ext cx="1325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6ECF2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1051560" y="4233672"/>
            <a:ext cx="1252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02033"/>
                </a:solidFill>
              </a:rPr>
              <a:t>Gamma Service</a:t>
            </a:r>
            <a:endParaRPr lang="en-US" sz="820" dirty="0"/>
          </a:p>
        </p:txBody>
      </p:sp>
      <p:sp>
        <p:nvSpPr>
          <p:cNvPr id="54" name="Shape 50"/>
          <p:cNvSpPr/>
          <p:nvPr/>
        </p:nvSpPr>
        <p:spPr>
          <a:xfrm>
            <a:off x="2340864" y="4087368"/>
            <a:ext cx="16459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6ECF2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2377440" y="4233672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02033"/>
                </a:solidFill>
              </a:rPr>
              <a:t>Manutenzione</a:t>
            </a:r>
            <a:endParaRPr lang="en-US" sz="820" dirty="0"/>
          </a:p>
        </p:txBody>
      </p:sp>
      <p:sp>
        <p:nvSpPr>
          <p:cNvPr id="56" name="Shape 52"/>
          <p:cNvSpPr/>
          <p:nvPr/>
        </p:nvSpPr>
        <p:spPr>
          <a:xfrm>
            <a:off x="3986784" y="4087368"/>
            <a:ext cx="10058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6ECF2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4023360" y="4233672"/>
            <a:ext cx="9326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02033"/>
                </a:solidFill>
              </a:rPr>
              <a:t>Alta</a:t>
            </a:r>
            <a:endParaRPr lang="en-US" sz="820" dirty="0"/>
          </a:p>
        </p:txBody>
      </p:sp>
      <p:sp>
        <p:nvSpPr>
          <p:cNvPr id="58" name="Shape 54"/>
          <p:cNvSpPr/>
          <p:nvPr/>
        </p:nvSpPr>
        <p:spPr>
          <a:xfrm>
            <a:off x="4992624" y="4087368"/>
            <a:ext cx="7772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6ECF2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5029200" y="4233672"/>
            <a:ext cx="7040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02033"/>
                </a:solidFill>
              </a:rPr>
              <a:t>84</a:t>
            </a:r>
            <a:endParaRPr lang="en-US" sz="820" dirty="0"/>
          </a:p>
        </p:txBody>
      </p:sp>
      <p:sp>
        <p:nvSpPr>
          <p:cNvPr id="60" name="Shape 56"/>
          <p:cNvSpPr/>
          <p:nvPr/>
        </p:nvSpPr>
        <p:spPr>
          <a:xfrm>
            <a:off x="5769864" y="4087368"/>
            <a:ext cx="27432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6ECF2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5806440" y="4233672"/>
            <a:ext cx="2670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02033"/>
                </a:solidFill>
              </a:rPr>
              <a:t>Ricambi tecnici</a:t>
            </a:r>
            <a:endParaRPr lang="en-US" sz="820" dirty="0"/>
          </a:p>
        </p:txBody>
      </p:sp>
      <p:sp>
        <p:nvSpPr>
          <p:cNvPr id="62" name="Shape 58"/>
          <p:cNvSpPr/>
          <p:nvPr/>
        </p:nvSpPr>
        <p:spPr>
          <a:xfrm>
            <a:off x="8513064" y="4087368"/>
            <a:ext cx="14630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6ECF2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8549640" y="4233672"/>
            <a:ext cx="1389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02033"/>
                </a:solidFill>
              </a:rPr>
              <a:t>Da controllare</a:t>
            </a:r>
            <a:endParaRPr lang="en-US" sz="820" dirty="0"/>
          </a:p>
        </p:txBody>
      </p:sp>
      <p:sp>
        <p:nvSpPr>
          <p:cNvPr id="64" name="Shape 60"/>
          <p:cNvSpPr/>
          <p:nvPr/>
        </p:nvSpPr>
        <p:spPr>
          <a:xfrm>
            <a:off x="3108960" y="4690872"/>
            <a:ext cx="5943600" cy="347472"/>
          </a:xfrm>
          <a:prstGeom prst="roundRect">
            <a:avLst>
              <a:gd name="adj" fmla="val 31579"/>
            </a:avLst>
          </a:prstGeom>
          <a:solidFill>
            <a:srgbClr val="E4A83A"/>
          </a:solidFill>
          <a:ln w="12700">
            <a:solidFill>
              <a:srgbClr val="E4A83A">
                <a:alpha val="0"/>
              </a:srgbClr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3328416" y="4864608"/>
            <a:ext cx="5504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033"/>
                </a:solidFill>
              </a:rPr>
              <a:t>lead + priorità + motivazione + verifica</a:t>
            </a:r>
            <a:endParaRPr lang="en-US" sz="1300" dirty="0"/>
          </a:p>
        </p:txBody>
      </p:sp>
      <p:sp>
        <p:nvSpPr>
          <p:cNvPr id="66" name="Shape 62"/>
          <p:cNvSpPr/>
          <p:nvPr/>
        </p:nvSpPr>
        <p:spPr>
          <a:xfrm>
            <a:off x="3108960" y="5440680"/>
            <a:ext cx="6035040" cy="411480"/>
          </a:xfrm>
          <a:prstGeom prst="roundRect">
            <a:avLst>
              <a:gd name="adj" fmla="val 11111"/>
            </a:avLst>
          </a:prstGeom>
          <a:solidFill>
            <a:srgbClr val="0D2746"/>
          </a:solidFill>
          <a:ln w="15240">
            <a:solidFill>
              <a:srgbClr val="E4A83A">
                <a:alpha val="95000"/>
              </a:srgbClr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3200400" y="5573268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1E6"/>
                </a:solidFill>
              </a:rPr>
              <a:t>SOSTITUIRE CON SCREENSHOT EXCEL FINALE / OUTPUT REALE</a:t>
            </a:r>
            <a:endParaRPr lang="en-US" sz="1000" dirty="0"/>
          </a:p>
        </p:txBody>
      </p:sp>
      <p:sp>
        <p:nvSpPr>
          <p:cNvPr id="68" name="Text 64"/>
          <p:cNvSpPr/>
          <p:nvPr/>
        </p:nvSpPr>
        <p:spPr>
          <a:xfrm>
            <a:off x="457200" y="651052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Chiedilo all'IA</a:t>
            </a:r>
            <a:endParaRPr lang="en-US" sz="750" dirty="0"/>
          </a:p>
        </p:txBody>
      </p:sp>
      <p:sp>
        <p:nvSpPr>
          <p:cNvPr id="69" name="Text 65"/>
          <p:cNvSpPr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9C8D9"/>
                </a:solidFill>
              </a:rPr>
              <a:t>19</a:t>
            </a:r>
            <a:endParaRPr lang="en-US" sz="750" dirty="0"/>
          </a:p>
        </p:txBody>
      </p:sp>
      <p:sp>
        <p:nvSpPr>
          <p:cNvPr id="70" name="Shape 66"/>
          <p:cNvSpPr/>
          <p:nvPr/>
        </p:nvSpPr>
        <p:spPr>
          <a:xfrm>
            <a:off x="457200" y="6382512"/>
            <a:ext cx="11155680" cy="0"/>
          </a:xfrm>
          <a:prstGeom prst="line">
            <a:avLst/>
          </a:prstGeom>
          <a:noFill/>
          <a:ln w="7620">
            <a:solidFill>
              <a:srgbClr val="244059">
                <a:alpha val="7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1"/>
          </a:solidFill>
          <a:ln w="12700">
            <a:solidFill>
              <a:srgbClr val="071A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251960"/>
            <a:ext cx="6309360" cy="2743200"/>
          </a:xfrm>
          <a:prstGeom prst="arc">
            <a:avLst/>
          </a:prstGeom>
          <a:noFill/>
          <a:ln w="406400">
            <a:solidFill>
              <a:srgbClr val="F7F1E6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0"/>
            <a:ext cx="5303520" cy="1828800"/>
          </a:xfrm>
          <a:prstGeom prst="arc">
            <a:avLst/>
          </a:prstGeom>
          <a:noFill/>
          <a:ln w="355600">
            <a:solidFill>
              <a:srgbClr val="218A84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023360"/>
            <a:ext cx="5303520" cy="2926080"/>
          </a:xfrm>
          <a:prstGeom prst="arc">
            <a:avLst/>
          </a:prstGeom>
          <a:noFill/>
          <a:ln w="38100">
            <a:solidFill>
              <a:srgbClr val="E4A83A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206240"/>
            <a:ext cx="4572000" cy="2377440"/>
          </a:xfrm>
          <a:prstGeom prst="arc">
            <a:avLst/>
          </a:prstGeom>
          <a:noFill/>
          <a:ln w="25400">
            <a:solidFill>
              <a:srgbClr val="E4A83A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38360" y="5440680"/>
            <a:ext cx="128016" cy="128016"/>
          </a:xfrm>
          <a:prstGeom prst="ellipse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4389120"/>
            <a:ext cx="91440" cy="91440"/>
          </a:xfrm>
          <a:prstGeom prst="ellipse">
            <a:avLst/>
          </a:prstGeom>
          <a:solidFill>
            <a:srgbClr val="218A84"/>
          </a:solidFill>
          <a:ln w="12700">
            <a:solidFill>
              <a:srgbClr val="218A84"/>
            </a:solidFill>
            <a:prstDash val="solid"/>
          </a:ln>
        </p:spPr>
      </p:sp>
      <p:pic>
        <p:nvPicPr>
          <p:cNvPr id="9" name="Image 0" descr="/mnt/data/logo-bcc-no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1508760" cy="676656"/>
          </a:xfrm>
          <a:prstGeom prst="rect">
            <a:avLst/>
          </a:prstGeom>
        </p:spPr>
      </p:pic>
      <p:pic>
        <p:nvPicPr>
          <p:cNvPr id="10" name="Image 1" descr="/mnt/data/logo_bi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51206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16768" y="30175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evolve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85800" y="10241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Priorità, punteggio, motivazione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713232" y="164592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9C8D9"/>
                </a:solidFill>
              </a:rPr>
              <a:t>Il valore non è “fare un Excel”: è aiutare a decidere.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13232" y="2121408"/>
            <a:ext cx="713232" cy="50292"/>
          </a:xfrm>
          <a:prstGeom prst="rect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2468880"/>
            <a:ext cx="30175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E6ECF2">
                <a:alpha val="9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15568" y="263347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Priorità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115568" y="2971800"/>
            <a:ext cx="261518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B6E"/>
                </a:solidFill>
              </a:rPr>
              <a:t>Quali aziende guardare prima, evitando liste infinite.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572000" y="2468880"/>
            <a:ext cx="30175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E6ECF2">
                <a:alpha val="9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773168" y="263347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Punteggio lead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773168" y="2971800"/>
            <a:ext cx="261518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B6E"/>
                </a:solidFill>
              </a:rPr>
              <a:t>Un criterio di ordinamento per ragionare sui contatti.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229600" y="2468880"/>
            <a:ext cx="30175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E6ECF2">
                <a:alpha val="90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430768" y="263347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Motivo selezione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8430768" y="2971800"/>
            <a:ext cx="261518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B6E"/>
                </a:solidFill>
              </a:rPr>
              <a:t>Perché potrebbe esserci interesse commerciale.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1920240" y="4663440"/>
            <a:ext cx="8321040" cy="594360"/>
          </a:xfrm>
          <a:prstGeom prst="roundRect">
            <a:avLst>
              <a:gd name="adj" fmla="val 18462"/>
            </a:avLst>
          </a:prstGeom>
          <a:solidFill>
            <a:srgbClr val="218A84"/>
          </a:solidFill>
          <a:ln w="12700">
            <a:solidFill>
              <a:srgbClr val="218A84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139696" y="4837176"/>
            <a:ext cx="7882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L'IA aiuta a ordinare. L'essere umano decide.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457200" y="651052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Chiedilo all'IA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9C8D9"/>
                </a:solidFill>
              </a:rPr>
              <a:t>20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457200" y="6382512"/>
            <a:ext cx="11155680" cy="0"/>
          </a:xfrm>
          <a:prstGeom prst="line">
            <a:avLst/>
          </a:prstGeom>
          <a:noFill/>
          <a:ln w="7620">
            <a:solidFill>
              <a:srgbClr val="244059">
                <a:alpha val="7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1"/>
          </a:solidFill>
          <a:ln w="12700">
            <a:solidFill>
              <a:srgbClr val="071A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251960"/>
            <a:ext cx="6309360" cy="2743200"/>
          </a:xfrm>
          <a:prstGeom prst="arc">
            <a:avLst/>
          </a:prstGeom>
          <a:noFill/>
          <a:ln w="406400">
            <a:solidFill>
              <a:srgbClr val="F7F1E6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0"/>
            <a:ext cx="5303520" cy="1828800"/>
          </a:xfrm>
          <a:prstGeom prst="arc">
            <a:avLst/>
          </a:prstGeom>
          <a:noFill/>
          <a:ln w="355600">
            <a:solidFill>
              <a:srgbClr val="218A84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023360"/>
            <a:ext cx="5303520" cy="2926080"/>
          </a:xfrm>
          <a:prstGeom prst="arc">
            <a:avLst/>
          </a:prstGeom>
          <a:noFill/>
          <a:ln w="38100">
            <a:solidFill>
              <a:srgbClr val="E4A83A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206240"/>
            <a:ext cx="4572000" cy="2377440"/>
          </a:xfrm>
          <a:prstGeom prst="arc">
            <a:avLst/>
          </a:prstGeom>
          <a:noFill/>
          <a:ln w="25400">
            <a:solidFill>
              <a:srgbClr val="E4A83A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38360" y="5440680"/>
            <a:ext cx="128016" cy="128016"/>
          </a:xfrm>
          <a:prstGeom prst="ellipse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4389120"/>
            <a:ext cx="91440" cy="91440"/>
          </a:xfrm>
          <a:prstGeom prst="ellipse">
            <a:avLst/>
          </a:prstGeom>
          <a:solidFill>
            <a:srgbClr val="218A84"/>
          </a:solidFill>
          <a:ln w="12700">
            <a:solidFill>
              <a:srgbClr val="218A84"/>
            </a:solidFill>
            <a:prstDash val="solid"/>
          </a:ln>
        </p:spPr>
      </p:sp>
      <p:pic>
        <p:nvPicPr>
          <p:cNvPr id="9" name="Image 0" descr="/mnt/data/logo-bcc-no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1508760" cy="676656"/>
          </a:xfrm>
          <a:prstGeom prst="rect">
            <a:avLst/>
          </a:prstGeom>
        </p:spPr>
      </p:pic>
      <p:pic>
        <p:nvPicPr>
          <p:cNvPr id="10" name="Image 1" descr="/mnt/data/logo_bi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51206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16768" y="30175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evolve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85800" y="10241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Dal dato all'azione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713232" y="164592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9C8D9"/>
                </a:solidFill>
              </a:rPr>
              <a:t>Il passaggio più concreto: messaggi personalizzati.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13232" y="2121408"/>
            <a:ext cx="713232" cy="50292"/>
          </a:xfrm>
          <a:prstGeom prst="rect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2286000"/>
            <a:ext cx="2926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E6ECF2">
                <a:alpha val="9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24128" y="245059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Dato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024128" y="2788920"/>
            <a:ext cx="252374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B6E"/>
                </a:solidFill>
              </a:rPr>
              <a:t>Azienda, attività, categoria, interesse potenziale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3977640" y="2697480"/>
            <a:ext cx="457200" cy="411480"/>
          </a:xfrm>
          <a:prstGeom prst="chevron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572000" y="2286000"/>
            <a:ext cx="2926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E6ECF2">
                <a:alpha val="90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773168" y="245059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Ragionamento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4773168" y="2788920"/>
            <a:ext cx="252374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B6E"/>
                </a:solidFill>
              </a:rPr>
              <a:t>Perché il servizio di stampa 3D può essere rilevante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7726680" y="2697480"/>
            <a:ext cx="457200" cy="411480"/>
          </a:xfrm>
          <a:prstGeom prst="chevron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321040" y="2286000"/>
            <a:ext cx="2926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E6ECF2">
                <a:alpha val="90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522208" y="245059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Azione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8522208" y="2788920"/>
            <a:ext cx="252374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B6E"/>
                </a:solidFill>
              </a:rPr>
              <a:t>Bozza di messaggio commerciale da revisionare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1143000" y="4343400"/>
            <a:ext cx="9875520" cy="731520"/>
          </a:xfrm>
          <a:prstGeom prst="roundRect">
            <a:avLst>
              <a:gd name="adj" fmla="val 15000"/>
            </a:avLst>
          </a:prstGeom>
          <a:solidFill>
            <a:srgbClr val="E4A83A"/>
          </a:solidFill>
          <a:ln w="12700">
            <a:solidFill>
              <a:srgbClr val="E4A83A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362456" y="4517136"/>
            <a:ext cx="9436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33"/>
                </a:solidFill>
              </a:rPr>
              <a:t>Da “voglio vendere a qualche azienda” a “so chi valutare, perché e con quale primo messaggio”.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457200" y="651052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Chiedilo all'IA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9C8D9"/>
                </a:solidFill>
              </a:rPr>
              <a:t>21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457200" y="6382512"/>
            <a:ext cx="11155680" cy="0"/>
          </a:xfrm>
          <a:prstGeom prst="line">
            <a:avLst/>
          </a:prstGeom>
          <a:noFill/>
          <a:ln w="7620">
            <a:solidFill>
              <a:srgbClr val="244059">
                <a:alpha val="7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1"/>
          </a:solidFill>
          <a:ln w="12700">
            <a:solidFill>
              <a:srgbClr val="071A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251960"/>
            <a:ext cx="6309360" cy="2743200"/>
          </a:xfrm>
          <a:prstGeom prst="arc">
            <a:avLst/>
          </a:prstGeom>
          <a:noFill/>
          <a:ln w="406400">
            <a:solidFill>
              <a:srgbClr val="F7F1E6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0"/>
            <a:ext cx="5303520" cy="1828800"/>
          </a:xfrm>
          <a:prstGeom prst="arc">
            <a:avLst/>
          </a:prstGeom>
          <a:noFill/>
          <a:ln w="355600">
            <a:solidFill>
              <a:srgbClr val="218A84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023360"/>
            <a:ext cx="5303520" cy="2926080"/>
          </a:xfrm>
          <a:prstGeom prst="arc">
            <a:avLst/>
          </a:prstGeom>
          <a:noFill/>
          <a:ln w="38100">
            <a:solidFill>
              <a:srgbClr val="E4A83A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206240"/>
            <a:ext cx="4572000" cy="2377440"/>
          </a:xfrm>
          <a:prstGeom prst="arc">
            <a:avLst/>
          </a:prstGeom>
          <a:noFill/>
          <a:ln w="25400">
            <a:solidFill>
              <a:srgbClr val="E4A83A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38360" y="5440680"/>
            <a:ext cx="128016" cy="128016"/>
          </a:xfrm>
          <a:prstGeom prst="ellipse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4389120"/>
            <a:ext cx="91440" cy="91440"/>
          </a:xfrm>
          <a:prstGeom prst="ellipse">
            <a:avLst/>
          </a:prstGeom>
          <a:solidFill>
            <a:srgbClr val="218A84"/>
          </a:solidFill>
          <a:ln w="12700">
            <a:solidFill>
              <a:srgbClr val="218A84"/>
            </a:solidFill>
            <a:prstDash val="solid"/>
          </a:ln>
        </p:spPr>
      </p:sp>
      <p:pic>
        <p:nvPicPr>
          <p:cNvPr id="9" name="Image 0" descr="/mnt/data/logo-bcc-no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1508760" cy="676656"/>
          </a:xfrm>
          <a:prstGeom prst="rect">
            <a:avLst/>
          </a:prstGeom>
        </p:spPr>
      </p:pic>
      <p:pic>
        <p:nvPicPr>
          <p:cNvPr id="10" name="Image 1" descr="/mnt/data/logo_bi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51206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16768" y="30175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evolve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85800" y="10241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L'IA critica il proprio lavoro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713232" y="164592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9C8D9"/>
                </a:solidFill>
              </a:rPr>
              <a:t>Effetto wow 3: usarla anche per controllare, non solo per produrre.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13232" y="2121408"/>
            <a:ext cx="713232" cy="50292"/>
          </a:xfrm>
          <a:prstGeom prst="rect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2286000"/>
            <a:ext cx="10287000" cy="1325880"/>
          </a:xfrm>
          <a:prstGeom prst="roundRect">
            <a:avLst>
              <a:gd name="adj" fmla="val 5517"/>
            </a:avLst>
          </a:prstGeom>
          <a:solidFill>
            <a:srgbClr val="102B4E"/>
          </a:solidFill>
          <a:ln w="12700">
            <a:solidFill>
              <a:srgbClr val="244D7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234440" y="2670048"/>
            <a:ext cx="9646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“Analizza criticamente questo file. Quali dati potrebbero essere incompleti, non verificati o rischiosi da usare? Quali controlli umani consigli?”</a:t>
            </a:r>
            <a:endParaRPr lang="en-US" sz="1900" dirty="0"/>
          </a:p>
        </p:txBody>
      </p:sp>
      <p:sp>
        <p:nvSpPr>
          <p:cNvPr id="17" name="Shape 13"/>
          <p:cNvSpPr/>
          <p:nvPr/>
        </p:nvSpPr>
        <p:spPr>
          <a:xfrm>
            <a:off x="2468880" y="4352544"/>
            <a:ext cx="100584" cy="100584"/>
          </a:xfrm>
          <a:prstGeom prst="ellipse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697480" y="4297680"/>
            <a:ext cx="6629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B9C8D9"/>
                </a:solidFill>
              </a:rPr>
              <a:t>Dati mancanti o incerti</a:t>
            </a:r>
            <a:endParaRPr lang="en-US" sz="1550" dirty="0"/>
          </a:p>
        </p:txBody>
      </p:sp>
      <p:sp>
        <p:nvSpPr>
          <p:cNvPr id="19" name="Shape 15"/>
          <p:cNvSpPr/>
          <p:nvPr/>
        </p:nvSpPr>
        <p:spPr>
          <a:xfrm>
            <a:off x="2468880" y="4736592"/>
            <a:ext cx="100584" cy="100584"/>
          </a:xfrm>
          <a:prstGeom prst="ellipse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697480" y="4681728"/>
            <a:ext cx="6629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B9C8D9"/>
                </a:solidFill>
              </a:rPr>
              <a:t>Contatti da verificare</a:t>
            </a:r>
            <a:endParaRPr lang="en-US" sz="1550" dirty="0"/>
          </a:p>
        </p:txBody>
      </p:sp>
      <p:sp>
        <p:nvSpPr>
          <p:cNvPr id="21" name="Shape 17"/>
          <p:cNvSpPr/>
          <p:nvPr/>
        </p:nvSpPr>
        <p:spPr>
          <a:xfrm>
            <a:off x="2468880" y="5120640"/>
            <a:ext cx="100584" cy="100584"/>
          </a:xfrm>
          <a:prstGeom prst="ellipse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697480" y="5065776"/>
            <a:ext cx="6629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B9C8D9"/>
                </a:solidFill>
              </a:rPr>
              <a:t>Fonti da controllare</a:t>
            </a:r>
            <a:endParaRPr lang="en-US" sz="1550" dirty="0"/>
          </a:p>
        </p:txBody>
      </p:sp>
      <p:sp>
        <p:nvSpPr>
          <p:cNvPr id="23" name="Shape 19"/>
          <p:cNvSpPr/>
          <p:nvPr/>
        </p:nvSpPr>
        <p:spPr>
          <a:xfrm>
            <a:off x="2468880" y="5504688"/>
            <a:ext cx="100584" cy="100584"/>
          </a:xfrm>
          <a:prstGeom prst="ellipse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697480" y="5449824"/>
            <a:ext cx="6629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B9C8D9"/>
                </a:solidFill>
              </a:rPr>
              <a:t>Rischi prima dell'uso commerciale</a:t>
            </a:r>
            <a:endParaRPr lang="en-US" sz="1550" dirty="0"/>
          </a:p>
        </p:txBody>
      </p:sp>
      <p:sp>
        <p:nvSpPr>
          <p:cNvPr id="25" name="Text 21"/>
          <p:cNvSpPr/>
          <p:nvPr/>
        </p:nvSpPr>
        <p:spPr>
          <a:xfrm>
            <a:off x="457200" y="651052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Chiedilo all'IA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9C8D9"/>
                </a:solidFill>
              </a:rPr>
              <a:t>22</a:t>
            </a:r>
            <a:endParaRPr lang="en-US" sz="750" dirty="0"/>
          </a:p>
        </p:txBody>
      </p:sp>
      <p:sp>
        <p:nvSpPr>
          <p:cNvPr id="27" name="Shape 23"/>
          <p:cNvSpPr/>
          <p:nvPr/>
        </p:nvSpPr>
        <p:spPr>
          <a:xfrm>
            <a:off x="457200" y="6382512"/>
            <a:ext cx="11155680" cy="0"/>
          </a:xfrm>
          <a:prstGeom prst="line">
            <a:avLst/>
          </a:prstGeom>
          <a:noFill/>
          <a:ln w="7620">
            <a:solidFill>
              <a:srgbClr val="244059">
                <a:alpha val="7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1"/>
          </a:solidFill>
          <a:ln w="12700">
            <a:solidFill>
              <a:srgbClr val="071A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251960"/>
            <a:ext cx="6309360" cy="2743200"/>
          </a:xfrm>
          <a:prstGeom prst="arc">
            <a:avLst/>
          </a:prstGeom>
          <a:noFill/>
          <a:ln w="406400">
            <a:solidFill>
              <a:srgbClr val="F7F1E6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0"/>
            <a:ext cx="5303520" cy="1828800"/>
          </a:xfrm>
          <a:prstGeom prst="arc">
            <a:avLst/>
          </a:prstGeom>
          <a:noFill/>
          <a:ln w="355600">
            <a:solidFill>
              <a:srgbClr val="218A84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023360"/>
            <a:ext cx="5303520" cy="2926080"/>
          </a:xfrm>
          <a:prstGeom prst="arc">
            <a:avLst/>
          </a:prstGeom>
          <a:noFill/>
          <a:ln w="38100">
            <a:solidFill>
              <a:srgbClr val="E4A83A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206240"/>
            <a:ext cx="4572000" cy="2377440"/>
          </a:xfrm>
          <a:prstGeom prst="arc">
            <a:avLst/>
          </a:prstGeom>
          <a:noFill/>
          <a:ln w="25400">
            <a:solidFill>
              <a:srgbClr val="E4A83A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38360" y="5440680"/>
            <a:ext cx="128016" cy="128016"/>
          </a:xfrm>
          <a:prstGeom prst="ellipse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4389120"/>
            <a:ext cx="91440" cy="91440"/>
          </a:xfrm>
          <a:prstGeom prst="ellipse">
            <a:avLst/>
          </a:prstGeom>
          <a:solidFill>
            <a:srgbClr val="218A84"/>
          </a:solidFill>
          <a:ln w="12700">
            <a:solidFill>
              <a:srgbClr val="218A84"/>
            </a:solidFill>
            <a:prstDash val="solid"/>
          </a:ln>
        </p:spPr>
      </p:sp>
      <p:pic>
        <p:nvPicPr>
          <p:cNvPr id="9" name="Image 0" descr="/mnt/data/logo-bcc-no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1508760" cy="676656"/>
          </a:xfrm>
          <a:prstGeom prst="rect">
            <a:avLst/>
          </a:prstGeom>
        </p:spPr>
      </p:pic>
      <p:pic>
        <p:nvPicPr>
          <p:cNvPr id="10" name="Image 1" descr="/mnt/data/logo_bi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51206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16768" y="30175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evolve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85800" y="10241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Case-study 2 · Dal caos alla struttura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713232" y="164592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9C8D9"/>
                </a:solidFill>
              </a:rPr>
              <a:t>L'IA non serve solo a scrivere: può aiutare a mettere ordine.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13232" y="2121408"/>
            <a:ext cx="713232" cy="50292"/>
          </a:xfrm>
          <a:prstGeom prst="rect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2468880"/>
            <a:ext cx="4937760" cy="2240280"/>
          </a:xfrm>
          <a:prstGeom prst="roundRect">
            <a:avLst>
              <a:gd name="adj" fmla="val 4082"/>
            </a:avLst>
          </a:prstGeom>
          <a:solidFill>
            <a:srgbClr val="102B4E"/>
          </a:solidFill>
          <a:ln w="10160">
            <a:solidFill>
              <a:srgbClr val="244D73">
                <a:alpha val="9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69848" y="2633472"/>
            <a:ext cx="4535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A83A"/>
                </a:solidFill>
              </a:rPr>
              <a:t>Input disordinato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069848" y="2971800"/>
            <a:ext cx="4535424" cy="1581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Devo organizzare un evento, invitare clienti, preparare locandina, capire chi parla, fare scaletta, mandare email, raccogliere adesioni, forse aperitivo, chiamare fornitore, preparare slide, fare follow-up...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355080" y="2468880"/>
            <a:ext cx="4937760" cy="2240280"/>
          </a:xfrm>
          <a:prstGeom prst="roundRect">
            <a:avLst>
              <a:gd name="adj" fmla="val 4082"/>
            </a:avLst>
          </a:prstGeom>
          <a:solidFill>
            <a:srgbClr val="102B4E"/>
          </a:solidFill>
          <a:ln w="10160">
            <a:solidFill>
              <a:srgbClr val="244D73">
                <a:alpha val="9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556248" y="2633472"/>
            <a:ext cx="4535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3C43B"/>
                </a:solidFill>
              </a:rPr>
              <a:t>Richiesta guidata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556248" y="2971800"/>
            <a:ext cx="4535424" cy="1581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Trasforma questi appunti in un piano operativo. Dividi per aree, indica priorità, responsabili, scadenze, rischi e checklist finale.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457200" y="651052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Chiedilo all'IA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9C8D9"/>
                </a:solidFill>
              </a:rPr>
              <a:t>23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457200" y="6382512"/>
            <a:ext cx="11155680" cy="0"/>
          </a:xfrm>
          <a:prstGeom prst="line">
            <a:avLst/>
          </a:prstGeom>
          <a:noFill/>
          <a:ln w="7620">
            <a:solidFill>
              <a:srgbClr val="244059">
                <a:alpha val="7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1"/>
          </a:solidFill>
          <a:ln w="12700">
            <a:solidFill>
              <a:srgbClr val="071A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251960"/>
            <a:ext cx="6309360" cy="2743200"/>
          </a:xfrm>
          <a:prstGeom prst="arc">
            <a:avLst/>
          </a:prstGeom>
          <a:noFill/>
          <a:ln w="406400">
            <a:solidFill>
              <a:srgbClr val="F7F1E6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0"/>
            <a:ext cx="5303520" cy="1828800"/>
          </a:xfrm>
          <a:prstGeom prst="arc">
            <a:avLst/>
          </a:prstGeom>
          <a:noFill/>
          <a:ln w="355600">
            <a:solidFill>
              <a:srgbClr val="218A84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023360"/>
            <a:ext cx="5303520" cy="2926080"/>
          </a:xfrm>
          <a:prstGeom prst="arc">
            <a:avLst/>
          </a:prstGeom>
          <a:noFill/>
          <a:ln w="38100">
            <a:solidFill>
              <a:srgbClr val="E4A83A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206240"/>
            <a:ext cx="4572000" cy="2377440"/>
          </a:xfrm>
          <a:prstGeom prst="arc">
            <a:avLst/>
          </a:prstGeom>
          <a:noFill/>
          <a:ln w="25400">
            <a:solidFill>
              <a:srgbClr val="E4A83A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38360" y="5440680"/>
            <a:ext cx="128016" cy="128016"/>
          </a:xfrm>
          <a:prstGeom prst="ellipse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4389120"/>
            <a:ext cx="91440" cy="91440"/>
          </a:xfrm>
          <a:prstGeom prst="ellipse">
            <a:avLst/>
          </a:prstGeom>
          <a:solidFill>
            <a:srgbClr val="218A84"/>
          </a:solidFill>
          <a:ln w="12700">
            <a:solidFill>
              <a:srgbClr val="218A84"/>
            </a:solidFill>
            <a:prstDash val="solid"/>
          </a:ln>
        </p:spPr>
      </p:sp>
      <p:pic>
        <p:nvPicPr>
          <p:cNvPr id="9" name="Image 0" descr="/mnt/data/logo-bcc-no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1508760" cy="676656"/>
          </a:xfrm>
          <a:prstGeom prst="rect">
            <a:avLst/>
          </a:prstGeom>
        </p:spPr>
      </p:pic>
      <p:pic>
        <p:nvPicPr>
          <p:cNvPr id="10" name="Image 1" descr="/mnt/data/logo_bi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51206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16768" y="30175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evolve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85800" y="10241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 appunti a piano operativo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713232" y="164592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9C8D9"/>
                </a:solidFill>
              </a:rPr>
              <a:t>Un output utile anche senza dati complessi.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13232" y="2121408"/>
            <a:ext cx="713232" cy="50292"/>
          </a:xfrm>
          <a:prstGeom prst="rect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" y="2423160"/>
            <a:ext cx="199339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E6ECF2">
                <a:alpha val="9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41248" y="2587752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18A84"/>
                </a:solidFill>
              </a:rPr>
              <a:t>Comunicazione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841248" y="2926080"/>
            <a:ext cx="159105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B6E"/>
                </a:solidFill>
              </a:rPr>
              <a:t>inviti, locandina, promemoria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2944368" y="2423160"/>
            <a:ext cx="1993392" cy="1234440"/>
          </a:xfrm>
          <a:prstGeom prst="roundRect">
            <a:avLst>
              <a:gd name="adj" fmla="val 7407"/>
            </a:avLst>
          </a:prstGeom>
          <a:solidFill>
            <a:srgbClr val="F7F1E6"/>
          </a:solidFill>
          <a:ln w="10160">
            <a:solidFill>
              <a:srgbClr val="E6ECF2">
                <a:alpha val="9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145536" y="2587752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18A84"/>
                </a:solidFill>
              </a:rPr>
              <a:t>Logistica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3145536" y="2926080"/>
            <a:ext cx="159105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B6E"/>
                </a:solidFill>
              </a:rPr>
              <a:t>fornitore, audio, computer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5248656" y="2423160"/>
            <a:ext cx="199339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E6ECF2">
                <a:alpha val="90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449824" y="2587752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18A84"/>
                </a:solidFill>
              </a:rPr>
              <a:t>Contenuti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5449824" y="2926080"/>
            <a:ext cx="159105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B6E"/>
                </a:solidFill>
              </a:rPr>
              <a:t>scaletta, slide, demo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7552944" y="2423160"/>
            <a:ext cx="1993392" cy="1234440"/>
          </a:xfrm>
          <a:prstGeom prst="roundRect">
            <a:avLst>
              <a:gd name="adj" fmla="val 7407"/>
            </a:avLst>
          </a:prstGeom>
          <a:solidFill>
            <a:srgbClr val="F7F1E6"/>
          </a:solidFill>
          <a:ln w="10160">
            <a:solidFill>
              <a:srgbClr val="E6ECF2">
                <a:alpha val="9000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754112" y="2587752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18A84"/>
                </a:solidFill>
              </a:rPr>
              <a:t>Relatori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7754112" y="2926080"/>
            <a:ext cx="159105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B6E"/>
                </a:solidFill>
              </a:rPr>
              <a:t>ruoli, transizioni, Q&amp;A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9857232" y="2423160"/>
            <a:ext cx="199339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E6ECF2">
                <a:alpha val="90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0058400" y="2587752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3C43B"/>
                </a:solidFill>
              </a:rPr>
              <a:t>Follow-up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10058400" y="2926080"/>
            <a:ext cx="159105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B6E"/>
                </a:solidFill>
              </a:rPr>
              <a:t>kit, email, contatti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914400" y="4800600"/>
            <a:ext cx="10332720" cy="685800"/>
          </a:xfrm>
          <a:prstGeom prst="roundRect">
            <a:avLst>
              <a:gd name="adj" fmla="val 16000"/>
            </a:avLst>
          </a:prstGeom>
          <a:solidFill>
            <a:srgbClr val="218A84"/>
          </a:solidFill>
          <a:ln w="12700">
            <a:solidFill>
              <a:srgbClr val="218A84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1133856" y="4974336"/>
            <a:ext cx="9893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 volte il primo valore dell'IA non è creare qualcosa di nuovo, ma mettere ordine in quello che abbiamo già.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457200" y="651052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Chiedilo all'IA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9C8D9"/>
                </a:solidFill>
              </a:rPr>
              <a:t>24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457200" y="6382512"/>
            <a:ext cx="11155680" cy="0"/>
          </a:xfrm>
          <a:prstGeom prst="line">
            <a:avLst/>
          </a:prstGeom>
          <a:noFill/>
          <a:ln w="7620">
            <a:solidFill>
              <a:srgbClr val="244059">
                <a:alpha val="7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1"/>
          </a:solidFill>
          <a:ln w="12700">
            <a:solidFill>
              <a:srgbClr val="071A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251960"/>
            <a:ext cx="6309360" cy="2743200"/>
          </a:xfrm>
          <a:prstGeom prst="arc">
            <a:avLst/>
          </a:prstGeom>
          <a:noFill/>
          <a:ln w="406400">
            <a:solidFill>
              <a:srgbClr val="F7F1E6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0"/>
            <a:ext cx="5303520" cy="1828800"/>
          </a:xfrm>
          <a:prstGeom prst="arc">
            <a:avLst/>
          </a:prstGeom>
          <a:noFill/>
          <a:ln w="355600">
            <a:solidFill>
              <a:srgbClr val="218A84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023360"/>
            <a:ext cx="5303520" cy="2926080"/>
          </a:xfrm>
          <a:prstGeom prst="arc">
            <a:avLst/>
          </a:prstGeom>
          <a:noFill/>
          <a:ln w="38100">
            <a:solidFill>
              <a:srgbClr val="E4A83A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206240"/>
            <a:ext cx="4572000" cy="2377440"/>
          </a:xfrm>
          <a:prstGeom prst="arc">
            <a:avLst/>
          </a:prstGeom>
          <a:noFill/>
          <a:ln w="25400">
            <a:solidFill>
              <a:srgbClr val="E4A83A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38360" y="5440680"/>
            <a:ext cx="128016" cy="128016"/>
          </a:xfrm>
          <a:prstGeom prst="ellipse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4389120"/>
            <a:ext cx="91440" cy="91440"/>
          </a:xfrm>
          <a:prstGeom prst="ellipse">
            <a:avLst/>
          </a:prstGeom>
          <a:solidFill>
            <a:srgbClr val="218A84"/>
          </a:solidFill>
          <a:ln w="12700">
            <a:solidFill>
              <a:srgbClr val="218A84"/>
            </a:solidFill>
            <a:prstDash val="solid"/>
          </a:ln>
        </p:spPr>
      </p:sp>
      <p:pic>
        <p:nvPicPr>
          <p:cNvPr id="9" name="Image 0" descr="/mnt/data/logo-bcc-no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1508760" cy="676656"/>
          </a:xfrm>
          <a:prstGeom prst="rect">
            <a:avLst/>
          </a:prstGeom>
        </p:spPr>
      </p:pic>
      <p:pic>
        <p:nvPicPr>
          <p:cNvPr id="10" name="Image 1" descr="/mnt/data/logo_bi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51206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16768" y="30175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evolve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85800" y="10241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Il risultato dell'IA non è la verità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713232" y="164592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9C8D9"/>
                </a:solidFill>
              </a:rPr>
              <a:t>È una base di lavoro: va letta, corretta e verificata.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13232" y="2121408"/>
            <a:ext cx="713232" cy="50292"/>
          </a:xfrm>
          <a:prstGeom prst="rect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" y="2395728"/>
            <a:ext cx="3337560" cy="960120"/>
          </a:xfrm>
          <a:prstGeom prst="roundRect">
            <a:avLst>
              <a:gd name="adj" fmla="val 9524"/>
            </a:avLst>
          </a:prstGeom>
          <a:solidFill>
            <a:srgbClr val="102B4E"/>
          </a:solidFill>
          <a:ln w="10160">
            <a:solidFill>
              <a:srgbClr val="244D73">
                <a:alpha val="9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86968" y="2560320"/>
            <a:ext cx="2935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A83A"/>
                </a:solidFill>
              </a:rPr>
              <a:t>Privacy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886968" y="2898648"/>
            <a:ext cx="293522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Non inserire dati sensibili o riservati senza regole chiare.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480560" y="2395728"/>
            <a:ext cx="3337560" cy="960120"/>
          </a:xfrm>
          <a:prstGeom prst="roundRect">
            <a:avLst>
              <a:gd name="adj" fmla="val 9524"/>
            </a:avLst>
          </a:prstGeom>
          <a:solidFill>
            <a:srgbClr val="102B4E"/>
          </a:solidFill>
          <a:ln w="10160">
            <a:solidFill>
              <a:srgbClr val="244D73">
                <a:alpha val="9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681728" y="2560320"/>
            <a:ext cx="2935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3C43B"/>
                </a:solidFill>
              </a:rPr>
              <a:t>Affidabilità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681728" y="2898648"/>
            <a:ext cx="293522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Può dare risposte plausibili ma sbagliate.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275320" y="2395728"/>
            <a:ext cx="3337560" cy="960120"/>
          </a:xfrm>
          <a:prstGeom prst="roundRect">
            <a:avLst>
              <a:gd name="adj" fmla="val 9524"/>
            </a:avLst>
          </a:prstGeom>
          <a:solidFill>
            <a:srgbClr val="102B4E"/>
          </a:solidFill>
          <a:ln w="10160">
            <a:solidFill>
              <a:srgbClr val="244D73">
                <a:alpha val="90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476488" y="2560320"/>
            <a:ext cx="2935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3C43B"/>
                </a:solidFill>
              </a:rPr>
              <a:t>Fonti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8476488" y="2898648"/>
            <a:ext cx="293522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Dati usati per decidere o contattare vanno controllati.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85800" y="3767328"/>
            <a:ext cx="3337560" cy="960120"/>
          </a:xfrm>
          <a:prstGeom prst="roundRect">
            <a:avLst>
              <a:gd name="adj" fmla="val 9524"/>
            </a:avLst>
          </a:prstGeom>
          <a:solidFill>
            <a:srgbClr val="102B4E"/>
          </a:solidFill>
          <a:ln w="10160">
            <a:solidFill>
              <a:srgbClr val="244D73">
                <a:alpha val="9000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86968" y="3931920"/>
            <a:ext cx="2935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3C43B"/>
                </a:solidFill>
              </a:rPr>
              <a:t>Bias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886968" y="4270248"/>
            <a:ext cx="293522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Può riflettere errori e distorsioni dei dati.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4480560" y="3767328"/>
            <a:ext cx="3337560" cy="960120"/>
          </a:xfrm>
          <a:prstGeom prst="roundRect">
            <a:avLst>
              <a:gd name="adj" fmla="val 9524"/>
            </a:avLst>
          </a:prstGeom>
          <a:solidFill>
            <a:srgbClr val="102B4E"/>
          </a:solidFill>
          <a:ln w="10160">
            <a:solidFill>
              <a:srgbClr val="244D73">
                <a:alpha val="90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681728" y="3931920"/>
            <a:ext cx="2935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3C43B"/>
                </a:solidFill>
              </a:rPr>
              <a:t>Lavoro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4681728" y="4270248"/>
            <a:ext cx="293522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Non elimina il giudizio umano: lo rende ancora più importante.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457200" y="651052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Chiedilo all'IA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9C8D9"/>
                </a:solidFill>
              </a:rPr>
              <a:t>25</a:t>
            </a:r>
            <a:endParaRPr lang="en-US" sz="750" dirty="0"/>
          </a:p>
        </p:txBody>
      </p:sp>
      <p:sp>
        <p:nvSpPr>
          <p:cNvPr id="32" name="Shape 28"/>
          <p:cNvSpPr/>
          <p:nvPr/>
        </p:nvSpPr>
        <p:spPr>
          <a:xfrm>
            <a:off x="457200" y="6382512"/>
            <a:ext cx="11155680" cy="0"/>
          </a:xfrm>
          <a:prstGeom prst="line">
            <a:avLst/>
          </a:prstGeom>
          <a:noFill/>
          <a:ln w="7620">
            <a:solidFill>
              <a:srgbClr val="244059">
                <a:alpha val="7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1"/>
          </a:solidFill>
          <a:ln w="12700">
            <a:solidFill>
              <a:srgbClr val="071A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251960"/>
            <a:ext cx="6309360" cy="2743200"/>
          </a:xfrm>
          <a:prstGeom prst="arc">
            <a:avLst/>
          </a:prstGeom>
          <a:noFill/>
          <a:ln w="406400">
            <a:solidFill>
              <a:srgbClr val="F7F1E6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0"/>
            <a:ext cx="5303520" cy="1828800"/>
          </a:xfrm>
          <a:prstGeom prst="arc">
            <a:avLst/>
          </a:prstGeom>
          <a:noFill/>
          <a:ln w="355600">
            <a:solidFill>
              <a:srgbClr val="218A84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023360"/>
            <a:ext cx="5303520" cy="2926080"/>
          </a:xfrm>
          <a:prstGeom prst="arc">
            <a:avLst/>
          </a:prstGeom>
          <a:noFill/>
          <a:ln w="38100">
            <a:solidFill>
              <a:srgbClr val="E4A83A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206240"/>
            <a:ext cx="4572000" cy="2377440"/>
          </a:xfrm>
          <a:prstGeom prst="arc">
            <a:avLst/>
          </a:prstGeom>
          <a:noFill/>
          <a:ln w="25400">
            <a:solidFill>
              <a:srgbClr val="E4A83A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38360" y="5440680"/>
            <a:ext cx="128016" cy="128016"/>
          </a:xfrm>
          <a:prstGeom prst="ellipse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4389120"/>
            <a:ext cx="91440" cy="91440"/>
          </a:xfrm>
          <a:prstGeom prst="ellipse">
            <a:avLst/>
          </a:prstGeom>
          <a:solidFill>
            <a:srgbClr val="218A84"/>
          </a:solidFill>
          <a:ln w="12700">
            <a:solidFill>
              <a:srgbClr val="218A84"/>
            </a:solidFill>
            <a:prstDash val="solid"/>
          </a:ln>
        </p:spPr>
      </p:sp>
      <p:pic>
        <p:nvPicPr>
          <p:cNvPr id="9" name="Image 0" descr="/mnt/data/logo-bcc-no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1508760" cy="676656"/>
          </a:xfrm>
          <a:prstGeom prst="rect">
            <a:avLst/>
          </a:prstGeom>
        </p:spPr>
      </p:pic>
      <p:pic>
        <p:nvPicPr>
          <p:cNvPr id="10" name="Image 1" descr="/mnt/data/logo_bi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51206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16768" y="30175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evolve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85800" y="10241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5 regole da portare a casa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713232" y="164592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9C8D9"/>
                </a:solidFill>
              </a:rPr>
              <a:t>Un metodo semplice da usare subito.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13232" y="2121408"/>
            <a:ext cx="713232" cy="50292"/>
          </a:xfrm>
          <a:prstGeom prst="rect">
            <a:avLst/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2514600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218A84"/>
          </a:solidFill>
          <a:ln w="12700">
            <a:solidFill>
              <a:srgbClr val="218A8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14400" y="268833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914400" y="30906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Dai contesto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3044952" y="2514600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218A84"/>
          </a:solidFill>
          <a:ln w="12700">
            <a:solidFill>
              <a:srgbClr val="218A8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182112" y="268833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3182112" y="30906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Definisci l'obiettivo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5312664" y="2514600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218A84"/>
          </a:solidFill>
          <a:ln w="12700">
            <a:solidFill>
              <a:srgbClr val="218A8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449824" y="268833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5449824" y="30906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Metti vincoli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7580376" y="2514600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218A84"/>
          </a:solidFill>
          <a:ln w="12700">
            <a:solidFill>
              <a:srgbClr val="218A8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717536" y="268833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7717536" y="30906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Chiedi un formato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9848088" y="2514600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E4A83A"/>
          </a:solidFill>
          <a:ln w="12700">
            <a:solidFill>
              <a:srgbClr val="E4A83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9985248" y="268833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33"/>
                </a:solidFill>
              </a:rPr>
              <a:t>5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9985248" y="30906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Verifica sempre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1234440" y="46634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Domande migliori, risposte migliori.</a:t>
            </a:r>
            <a:endParaRPr lang="en-US" sz="2900" dirty="0"/>
          </a:p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 decisioni sempre umane.</a:t>
            </a:r>
            <a:endParaRPr lang="en-US" sz="2900" dirty="0"/>
          </a:p>
        </p:txBody>
      </p:sp>
      <p:sp>
        <p:nvSpPr>
          <p:cNvPr id="31" name="Text 27"/>
          <p:cNvSpPr/>
          <p:nvPr/>
        </p:nvSpPr>
        <p:spPr>
          <a:xfrm>
            <a:off x="457200" y="651052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Chiedilo all'IA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9C8D9"/>
                </a:solidFill>
              </a:rPr>
              <a:t>26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457200" y="6382512"/>
            <a:ext cx="11155680" cy="0"/>
          </a:xfrm>
          <a:prstGeom prst="line">
            <a:avLst/>
          </a:prstGeom>
          <a:noFill/>
          <a:ln w="7620">
            <a:solidFill>
              <a:srgbClr val="244059">
                <a:alpha val="75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Evolve / BCC Paliano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Chiedilo all'IA</dc:title>
  <dc:subject>Chiedilo all'IA - presentazione formativa</dc:subject>
  <dc:creator>OpenAI - ChatGPT</dc:creator>
  <cp:lastModifiedBy>OpenAI - ChatGPT</cp:lastModifiedBy>
  <cp:revision>1</cp:revision>
  <dcterms:created xsi:type="dcterms:W3CDTF">2026-06-22T15:09:59Z</dcterms:created>
  <dcterms:modified xsi:type="dcterms:W3CDTF">2026-06-22T15:09:59Z</dcterms:modified>
</cp:coreProperties>
</file>